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"We're Assay. Every company is adding AI agents. The hard question is how much you can let them do on their own. Assay answers that with evidence: act alone where the record proves it, ask a person where it doesn't, and block what fails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Quick intros, one line each.
To add photos: right-click a grey photo &gt; Change Picture &gt; From a File. The size and round crop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 problem: all-or-nothing trust. The AI's own confidence doesn't fix it: a model that said "95% sure" was right 4 of 19 times (results/stage-2-3-runs/VERDICTS.md).
Assay is one place that manages this: act alone or ask, which model answers, whether a correction helps, and learning from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Walk the loop left to right: the agent reads real Apache Jira tickets, decides what each one is, Assay checks whether it has earned the right to act, and the manager answers what it hasn't. Every answer goes back into Assay as evidence. That loop is how it improves.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Read the challenge line, then map it: Reads = tickets and results in Unity Catalog tables. Decides = Llama 3.3 70B on Foundation Model APIs, with live switching to a backup (Qwen 80B, then gpt-oss 120B) when it's busy. Acts = the dashboard is a Databricks App that writes approved links to a Delta table. Improves = every Yes/No is saved; a plausible bad rule ("version upgrades are duplicates") was tested first and blocked: broke 16, fixed 0 (results/stage-2-3-runs/VERDICTS.md). All on Free Edition,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Click the link (opens the guided tour). If the Wi-Fi or app fails, use screenshots.
1) Needs your OK: answer one card, point at "Seen before: reviewers said No 21 of 21 times".
2) Earning your trust: the bar moved; about 8 more consistent answers and that kind is handled alone.
3) Held back for your safety: the cheap model (4 of 19 right at 95% sure) and the bad rule (broke 16, fixed 0).
4) Press "Check new tickets now": real tickets, real models on Databricks.
Before presenting: the app stops 24 h after a deploy. Redeploy Sunday morning (CLAUDE.md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three numbers ready: 4 of 19 right at "95% sure" (cheap model refused), broke 16 / fixed 0 (bad rule blocked), and 21 of 21 reviewer rejections, about 8 answers from proven. What we don't claim: no model has earned the right to act alone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ssay-manager-7474649367590010.aws.databricksapps.com/#tour" TargetMode="External"/><Relationship Id="rId3" Type="http://schemas.openxmlformats.org/officeDocument/2006/relationships/hyperlink" Target="https://github.com/Ananda-001/Badger-Build-Fest" TargetMode="External"/><Relationship Id="rId4" Type="http://schemas.openxmlformats.org/officeDocument/2006/relationships/hyperlink" Target="https://github.com/Ananda-001/Badger-Build-Fest" TargetMode="External"/><Relationship Id="rId2"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Ananda-001/Badger-Build-Fest"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731520" y="640080"/>
            <a:ext cx="5486400" cy="320040"/>
          </a:xfrm>
          <a:prstGeom prst="rect">
            <a:avLst/>
          </a:prstGeom>
          <a:noFill/>
          <a:ln/>
        </p:spPr>
        <p:txBody>
          <a:bodyPr wrap="square" lIns="0" tIns="0" rIns="0" bIns="0" rtlCol="0" anchor="t"/>
          <a:lstStyle/>
          <a:p>
            <a:pPr indent="0" marL="0">
              <a:buNone/>
            </a:pPr>
            <a:r>
              <a:rPr lang="en-US" sz="1400" b="1" spc="300" kern="0" dirty="0">
                <a:solidFill>
                  <a:srgbClr val="E3A92B"/>
                </a:solidFill>
                <a:latin typeface="Calibri" pitchFamily="34" charset="0"/>
                <a:ea typeface="Calibri" pitchFamily="34" charset="-122"/>
                <a:cs typeface="Calibri" pitchFamily="34" charset="-120"/>
              </a:rPr>
              <a:t>BADGER BUILDFEST 2026</a:t>
            </a:r>
            <a:endParaRPr lang="en-US" sz="1400" dirty="0"/>
          </a:p>
        </p:txBody>
      </p:sp>
      <p:sp>
        <p:nvSpPr>
          <p:cNvPr id="3" name="Text 1"/>
          <p:cNvSpPr txBox="1"/>
          <p:nvPr/>
        </p:nvSpPr>
        <p:spPr>
          <a:xfrm>
            <a:off x="731520" y="1691640"/>
            <a:ext cx="6400800" cy="1371600"/>
          </a:xfrm>
          <a:prstGeom prst="rect">
            <a:avLst/>
          </a:prstGeom>
          <a:noFill/>
          <a:ln/>
        </p:spPr>
        <p:txBody>
          <a:bodyPr wrap="square" lIns="0" tIns="0" rIns="0" bIns="0" rtlCol="0" anchor="t"/>
          <a:lstStyle/>
          <a:p>
            <a:pPr indent="0" marL="0">
              <a:buNone/>
            </a:pPr>
            <a:r>
              <a:rPr lang="en-US" sz="9600" b="1" dirty="0">
                <a:solidFill>
                  <a:srgbClr val="F5F3EE"/>
                </a:solidFill>
                <a:latin typeface="Cambria" pitchFamily="34" charset="0"/>
                <a:ea typeface="Cambria" pitchFamily="34" charset="-122"/>
                <a:cs typeface="Cambria" pitchFamily="34" charset="-120"/>
              </a:rPr>
              <a:t>Assay</a:t>
            </a:r>
            <a:endParaRPr lang="en-US" sz="9600" dirty="0"/>
          </a:p>
        </p:txBody>
      </p:sp>
      <p:sp>
        <p:nvSpPr>
          <p:cNvPr id="4" name="Text 2"/>
          <p:cNvSpPr txBox="1"/>
          <p:nvPr/>
        </p:nvSpPr>
        <p:spPr>
          <a:xfrm>
            <a:off x="731520" y="3154680"/>
            <a:ext cx="6400800" cy="548640"/>
          </a:xfrm>
          <a:prstGeom prst="rect">
            <a:avLst/>
          </a:prstGeom>
          <a:noFill/>
          <a:ln/>
        </p:spPr>
        <p:txBody>
          <a:bodyPr wrap="square" lIns="0" tIns="0" rIns="0" bIns="0" rtlCol="0" anchor="t"/>
          <a:lstStyle/>
          <a:p>
            <a:pPr indent="0" marL="0">
              <a:buNone/>
            </a:pPr>
            <a:r>
              <a:rPr lang="en-US" sz="3200" dirty="0">
                <a:solidFill>
                  <a:srgbClr val="F5F3EE"/>
                </a:solidFill>
                <a:latin typeface="Calibri" pitchFamily="34" charset="0"/>
                <a:ea typeface="Calibri" pitchFamily="34" charset="-122"/>
                <a:cs typeface="Calibri" pitchFamily="34" charset="-120"/>
              </a:rPr>
              <a:t>The manager for your AI agents</a:t>
            </a:r>
            <a:endParaRPr lang="en-US" sz="3200" dirty="0"/>
          </a:p>
        </p:txBody>
      </p:sp>
      <p:sp>
        <p:nvSpPr>
          <p:cNvPr id="5" name="Text 3"/>
          <p:cNvSpPr txBox="1"/>
          <p:nvPr/>
        </p:nvSpPr>
        <p:spPr>
          <a:xfrm>
            <a:off x="731520" y="3794760"/>
            <a:ext cx="6400800" cy="457200"/>
          </a:xfrm>
          <a:prstGeom prst="rect">
            <a:avLst/>
          </a:prstGeom>
          <a:noFill/>
          <a:ln/>
        </p:spPr>
        <p:txBody>
          <a:bodyPr wrap="square" lIns="0" tIns="0" rIns="0" bIns="0" rtlCol="0" anchor="t"/>
          <a:lstStyle/>
          <a:p>
            <a:pPr indent="0" marL="0">
              <a:buNone/>
            </a:pPr>
            <a:r>
              <a:rPr lang="en-US" sz="2000" i="1" dirty="0">
                <a:solidFill>
                  <a:srgbClr val="E3A92B"/>
                </a:solidFill>
                <a:latin typeface="Calibri" pitchFamily="34" charset="0"/>
                <a:ea typeface="Calibri" pitchFamily="34" charset="-122"/>
                <a:cs typeface="Calibri" pitchFamily="34" charset="-120"/>
              </a:rPr>
              <a:t>Agents earn their freedom, with evidence.</a:t>
            </a:r>
            <a:endParaRPr lang="en-US" sz="2000" dirty="0"/>
          </a:p>
        </p:txBody>
      </p:sp>
      <p:sp>
        <p:nvSpPr>
          <p:cNvPr id="6" name="Text 4"/>
          <p:cNvSpPr txBox="1"/>
          <p:nvPr/>
        </p:nvSpPr>
        <p:spPr>
          <a:xfrm>
            <a:off x="731520" y="5989320"/>
            <a:ext cx="10515600" cy="320040"/>
          </a:xfrm>
          <a:prstGeom prst="rect">
            <a:avLst/>
          </a:prstGeom>
          <a:noFill/>
          <a:ln/>
        </p:spPr>
        <p:txBody>
          <a:bodyPr wrap="square" lIns="0" tIns="0" rIns="0" bIns="0" rtlCol="0" anchor="t"/>
          <a:lstStyle/>
          <a:p>
            <a:pPr indent="0" marL="0">
              <a:buNone/>
            </a:pPr>
            <a:r>
              <a:rPr lang="en-US" sz="1400" dirty="0">
                <a:solidFill>
                  <a:srgbClr val="AEB6C1"/>
                </a:solidFill>
                <a:latin typeface="Calibri" pitchFamily="34" charset="0"/>
                <a:ea typeface="Calibri" pitchFamily="34" charset="-122"/>
                <a:cs typeface="Calibri" pitchFamily="34" charset="-120"/>
              </a:rPr>
              <a:t>Applied AI &amp; Automation  ·  Databricks Real-World Workflows (Xorbix)  ·  The Art of the Break</a:t>
            </a:r>
            <a:endParaRPr lang="en-US" sz="1400" dirty="0"/>
          </a:p>
        </p:txBody>
      </p:sp>
      <p:sp>
        <p:nvSpPr>
          <p:cNvPr id="7" name="Shape 5"/>
          <p:cNvSpPr/>
          <p:nvPr/>
        </p:nvSpPr>
        <p:spPr>
          <a:xfrm>
            <a:off x="7589520" y="1828800"/>
            <a:ext cx="3886200" cy="713232"/>
          </a:xfrm>
          <a:prstGeom prst="roundRect">
            <a:avLst>
              <a:gd name="adj" fmla="val 50000"/>
            </a:avLst>
          </a:prstGeom>
          <a:solidFill>
            <a:srgbClr val="232B36"/>
          </a:solidFill>
          <a:ln w="12700">
            <a:solidFill>
              <a:srgbClr val="232B36"/>
            </a:solidFill>
            <a:prstDash val="solid"/>
          </a:ln>
        </p:spPr>
      </p:sp>
      <p:sp>
        <p:nvSpPr>
          <p:cNvPr id="8" name="Shape 6"/>
          <p:cNvSpPr/>
          <p:nvPr/>
        </p:nvSpPr>
        <p:spPr>
          <a:xfrm>
            <a:off x="7818120" y="2066544"/>
            <a:ext cx="237744" cy="237744"/>
          </a:xfrm>
          <a:prstGeom prst="ellipse">
            <a:avLst/>
          </a:prstGeom>
          <a:solidFill>
            <a:srgbClr val="3FA67A"/>
          </a:solidFill>
          <a:ln w="12700">
            <a:solidFill>
              <a:srgbClr val="3FA67A"/>
            </a:solidFill>
            <a:prstDash val="solid"/>
          </a:ln>
        </p:spPr>
      </p:sp>
      <p:sp>
        <p:nvSpPr>
          <p:cNvPr id="9" name="Text 7"/>
          <p:cNvSpPr txBox="1"/>
          <p:nvPr/>
        </p:nvSpPr>
        <p:spPr>
          <a:xfrm>
            <a:off x="8229600" y="1828800"/>
            <a:ext cx="3154680" cy="713232"/>
          </a:xfrm>
          <a:prstGeom prst="rect">
            <a:avLst/>
          </a:prstGeom>
          <a:noFill/>
          <a:ln/>
        </p:spPr>
        <p:txBody>
          <a:bodyPr wrap="square" lIns="0" tIns="0" rIns="0" bIns="0" rtlCol="0" anchor="ctr"/>
          <a:lstStyle/>
          <a:p>
            <a:pPr indent="0" marL="0">
              <a:buNone/>
            </a:pPr>
            <a:r>
              <a:rPr lang="en-US" sz="1500" b="1" dirty="0">
                <a:solidFill>
                  <a:srgbClr val="F5F3EE"/>
                </a:solidFill>
                <a:latin typeface="Calibri" pitchFamily="34" charset="0"/>
                <a:ea typeface="Calibri" pitchFamily="34" charset="-122"/>
                <a:cs typeface="Calibri" pitchFamily="34" charset="-120"/>
              </a:rPr>
              <a:t>Acts alone</a:t>
            </a:r>
            <a:pPr indent="0" marL="0">
              <a:buNone/>
            </a:pPr>
            <a:r>
              <a:rPr lang="en-US" sz="1500" dirty="0">
                <a:solidFill>
                  <a:srgbClr val="AEB6C1"/>
                </a:solidFill>
                <a:latin typeface="Calibri" pitchFamily="34" charset="0"/>
                <a:ea typeface="Calibri" pitchFamily="34" charset="-122"/>
                <a:cs typeface="Calibri" pitchFamily="34" charset="-120"/>
              </a:rPr>
              <a:t>  where its record proves it</a:t>
            </a:r>
            <a:endParaRPr lang="en-US" sz="1500" dirty="0"/>
          </a:p>
        </p:txBody>
      </p:sp>
      <p:sp>
        <p:nvSpPr>
          <p:cNvPr id="10" name="Shape 8"/>
          <p:cNvSpPr/>
          <p:nvPr/>
        </p:nvSpPr>
        <p:spPr>
          <a:xfrm>
            <a:off x="7589520" y="2743200"/>
            <a:ext cx="3886200" cy="713232"/>
          </a:xfrm>
          <a:prstGeom prst="roundRect">
            <a:avLst>
              <a:gd name="adj" fmla="val 50000"/>
            </a:avLst>
          </a:prstGeom>
          <a:solidFill>
            <a:srgbClr val="232B36"/>
          </a:solidFill>
          <a:ln w="12700">
            <a:solidFill>
              <a:srgbClr val="232B36"/>
            </a:solidFill>
            <a:prstDash val="solid"/>
          </a:ln>
        </p:spPr>
      </p:sp>
      <p:sp>
        <p:nvSpPr>
          <p:cNvPr id="11" name="Shape 9"/>
          <p:cNvSpPr/>
          <p:nvPr/>
        </p:nvSpPr>
        <p:spPr>
          <a:xfrm>
            <a:off x="7818120" y="2980944"/>
            <a:ext cx="237744" cy="237744"/>
          </a:xfrm>
          <a:prstGeom prst="ellipse">
            <a:avLst/>
          </a:prstGeom>
          <a:solidFill>
            <a:srgbClr val="E3A92B"/>
          </a:solidFill>
          <a:ln w="12700">
            <a:solidFill>
              <a:srgbClr val="E3A92B"/>
            </a:solidFill>
            <a:prstDash val="solid"/>
          </a:ln>
        </p:spPr>
      </p:sp>
      <p:sp>
        <p:nvSpPr>
          <p:cNvPr id="12" name="Text 10"/>
          <p:cNvSpPr txBox="1"/>
          <p:nvPr/>
        </p:nvSpPr>
        <p:spPr>
          <a:xfrm>
            <a:off x="8229600" y="2743200"/>
            <a:ext cx="3154680" cy="713232"/>
          </a:xfrm>
          <a:prstGeom prst="rect">
            <a:avLst/>
          </a:prstGeom>
          <a:noFill/>
          <a:ln/>
        </p:spPr>
        <p:txBody>
          <a:bodyPr wrap="square" lIns="0" tIns="0" rIns="0" bIns="0" rtlCol="0" anchor="ctr"/>
          <a:lstStyle/>
          <a:p>
            <a:pPr indent="0" marL="0">
              <a:buNone/>
            </a:pPr>
            <a:r>
              <a:rPr lang="en-US" sz="1500" b="1" dirty="0">
                <a:solidFill>
                  <a:srgbClr val="F5F3EE"/>
                </a:solidFill>
                <a:latin typeface="Calibri" pitchFamily="34" charset="0"/>
                <a:ea typeface="Calibri" pitchFamily="34" charset="-122"/>
                <a:cs typeface="Calibri" pitchFamily="34" charset="-120"/>
              </a:rPr>
              <a:t>Asks a person</a:t>
            </a:r>
            <a:pPr indent="0" marL="0">
              <a:buNone/>
            </a:pPr>
            <a:r>
              <a:rPr lang="en-US" sz="1500" dirty="0">
                <a:solidFill>
                  <a:srgbClr val="AEB6C1"/>
                </a:solidFill>
                <a:latin typeface="Calibri" pitchFamily="34" charset="0"/>
                <a:ea typeface="Calibri" pitchFamily="34" charset="-122"/>
                <a:cs typeface="Calibri" pitchFamily="34" charset="-120"/>
              </a:rPr>
              <a:t>  where it isn’t proven yet</a:t>
            </a:r>
            <a:endParaRPr lang="en-US" sz="1500" dirty="0"/>
          </a:p>
        </p:txBody>
      </p:sp>
      <p:sp>
        <p:nvSpPr>
          <p:cNvPr id="13" name="Shape 11"/>
          <p:cNvSpPr/>
          <p:nvPr/>
        </p:nvSpPr>
        <p:spPr>
          <a:xfrm>
            <a:off x="7589520" y="3657600"/>
            <a:ext cx="3886200" cy="713232"/>
          </a:xfrm>
          <a:prstGeom prst="roundRect">
            <a:avLst>
              <a:gd name="adj" fmla="val 50000"/>
            </a:avLst>
          </a:prstGeom>
          <a:solidFill>
            <a:srgbClr val="232B36"/>
          </a:solidFill>
          <a:ln w="12700">
            <a:solidFill>
              <a:srgbClr val="232B36"/>
            </a:solidFill>
            <a:prstDash val="solid"/>
          </a:ln>
        </p:spPr>
      </p:sp>
      <p:sp>
        <p:nvSpPr>
          <p:cNvPr id="14" name="Shape 12"/>
          <p:cNvSpPr/>
          <p:nvPr/>
        </p:nvSpPr>
        <p:spPr>
          <a:xfrm>
            <a:off x="7818120" y="3895344"/>
            <a:ext cx="237744" cy="237744"/>
          </a:xfrm>
          <a:prstGeom prst="ellipse">
            <a:avLst/>
          </a:prstGeom>
          <a:solidFill>
            <a:srgbClr val="E0584B"/>
          </a:solidFill>
          <a:ln w="12700">
            <a:solidFill>
              <a:srgbClr val="E0584B"/>
            </a:solidFill>
            <a:prstDash val="solid"/>
          </a:ln>
        </p:spPr>
      </p:sp>
      <p:sp>
        <p:nvSpPr>
          <p:cNvPr id="15" name="Text 13"/>
          <p:cNvSpPr txBox="1"/>
          <p:nvPr/>
        </p:nvSpPr>
        <p:spPr>
          <a:xfrm>
            <a:off x="8229600" y="3657600"/>
            <a:ext cx="3154680" cy="713232"/>
          </a:xfrm>
          <a:prstGeom prst="rect">
            <a:avLst/>
          </a:prstGeom>
          <a:noFill/>
          <a:ln/>
        </p:spPr>
        <p:txBody>
          <a:bodyPr wrap="square" lIns="0" tIns="0" rIns="0" bIns="0" rtlCol="0" anchor="ctr"/>
          <a:lstStyle/>
          <a:p>
            <a:pPr indent="0" marL="0">
              <a:buNone/>
            </a:pPr>
            <a:r>
              <a:rPr lang="en-US" sz="1500" b="1" dirty="0">
                <a:solidFill>
                  <a:srgbClr val="F5F3EE"/>
                </a:solidFill>
                <a:latin typeface="Calibri" pitchFamily="34" charset="0"/>
                <a:ea typeface="Calibri" pitchFamily="34" charset="-122"/>
                <a:cs typeface="Calibri" pitchFamily="34" charset="-120"/>
              </a:rPr>
              <a:t>Blocked</a:t>
            </a:r>
            <a:pPr indent="0" marL="0">
              <a:buNone/>
            </a:pPr>
            <a:r>
              <a:rPr lang="en-US" sz="1500" dirty="0">
                <a:solidFill>
                  <a:srgbClr val="AEB6C1"/>
                </a:solidFill>
                <a:latin typeface="Calibri" pitchFamily="34" charset="0"/>
                <a:ea typeface="Calibri" pitchFamily="34" charset="-122"/>
                <a:cs typeface="Calibri" pitchFamily="34" charset="-120"/>
              </a:rPr>
              <a:t>  when it fails the test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t"/>
          <a:lstStyle/>
          <a:p>
            <a:pPr indent="0" marL="0">
              <a:buNone/>
            </a:pPr>
            <a:r>
              <a:rPr lang="en-US" sz="4000" b="1" dirty="0">
                <a:solidFill>
                  <a:srgbClr val="161B22"/>
                </a:solidFill>
                <a:latin typeface="Cambria" pitchFamily="34" charset="0"/>
                <a:ea typeface="Cambria" pitchFamily="34" charset="-122"/>
                <a:cs typeface="Cambria" pitchFamily="34" charset="-120"/>
              </a:rPr>
              <a:t>Our team</a:t>
            </a:r>
            <a:endParaRPr lang="en-US" sz="4000" dirty="0"/>
          </a:p>
        </p:txBody>
      </p:sp>
      <p:sp>
        <p:nvSpPr>
          <p:cNvPr id="3" name="Shape 1"/>
          <p:cNvSpPr/>
          <p:nvPr/>
        </p:nvSpPr>
        <p:spPr>
          <a:xfrm>
            <a:off x="984352" y="1746504"/>
            <a:ext cx="2542032" cy="2542032"/>
          </a:xfrm>
          <a:prstGeom prst="ellipse">
            <a:avLst/>
          </a:prstGeom>
          <a:solidFill>
            <a:srgbClr val="E3A92B"/>
          </a:solidFill>
          <a:ln w="12700">
            <a:solidFill>
              <a:srgbClr val="E3A92B"/>
            </a:solidFill>
            <a:prstDash val="solid"/>
          </a:ln>
        </p:spPr>
      </p:sp>
      <p:pic>
        <p:nvPicPr>
          <p:cNvPr id="4" name="Image 0" descr="Photo of Soham Vazirani">    </p:cNvPr>
          <p:cNvPicPr>
            <a:picLocks noChangeAspect="1"/>
          </p:cNvPicPr>
          <p:nvPr/>
        </p:nvPicPr>
        <p:blipFill>
          <a:blip r:embed="rId1"/>
          <a:stretch>
            <a:fillRect/>
          </a:stretch>
        </p:blipFill>
        <p:spPr>
          <a:xfrm>
            <a:off x="1066648" y="1828800"/>
            <a:ext cx="2377440" cy="2377440"/>
          </a:xfrm>
          <a:prstGeom prst="ellipse">
            <a:avLst/>
          </a:prstGeom>
        </p:spPr>
      </p:pic>
      <p:sp>
        <p:nvSpPr>
          <p:cNvPr id="5" name="Text 2"/>
          <p:cNvSpPr txBox="1"/>
          <p:nvPr/>
        </p:nvSpPr>
        <p:spPr>
          <a:xfrm>
            <a:off x="609448" y="4572000"/>
            <a:ext cx="3291840" cy="457200"/>
          </a:xfrm>
          <a:prstGeom prst="rect">
            <a:avLst/>
          </a:prstGeom>
          <a:noFill/>
          <a:ln/>
        </p:spPr>
        <p:txBody>
          <a:bodyPr wrap="square" lIns="0" tIns="0" rIns="0" bIns="0" rtlCol="0" anchor="t"/>
          <a:lstStyle/>
          <a:p>
            <a:pPr algn="ctr" indent="0" marL="0">
              <a:buNone/>
            </a:pPr>
            <a:r>
              <a:rPr lang="en-US" sz="2400" b="1" dirty="0">
                <a:solidFill>
                  <a:srgbClr val="161B22"/>
                </a:solidFill>
                <a:latin typeface="Calibri" pitchFamily="34" charset="0"/>
                <a:ea typeface="Calibri" pitchFamily="34" charset="-122"/>
                <a:cs typeface="Calibri" pitchFamily="34" charset="-120"/>
              </a:rPr>
              <a:t>Soham Vazirani</a:t>
            </a:r>
            <a:endParaRPr lang="en-US" sz="2400" dirty="0"/>
          </a:p>
        </p:txBody>
      </p:sp>
      <p:sp>
        <p:nvSpPr>
          <p:cNvPr id="6" name="Text 3"/>
          <p:cNvSpPr txBox="1"/>
          <p:nvPr/>
        </p:nvSpPr>
        <p:spPr>
          <a:xfrm>
            <a:off x="609448" y="5074920"/>
            <a:ext cx="3291840" cy="320040"/>
          </a:xfrm>
          <a:prstGeom prst="rect">
            <a:avLst/>
          </a:prstGeom>
          <a:noFill/>
          <a:ln/>
        </p:spPr>
        <p:txBody>
          <a:bodyPr wrap="square" lIns="0" tIns="0" rIns="0" bIns="0" rtlCol="0" anchor="t"/>
          <a:lstStyle/>
          <a:p>
            <a:pPr algn="ctr" indent="0" marL="0">
              <a:buNone/>
            </a:pPr>
            <a:r>
              <a:rPr lang="en-US" sz="1600" b="1" dirty="0">
                <a:solidFill>
                  <a:srgbClr val="8A5E00"/>
                </a:solidFill>
                <a:latin typeface="Calibri" pitchFamily="34" charset="0"/>
                <a:ea typeface="Calibri" pitchFamily="34" charset="-122"/>
                <a:cs typeface="Calibri" pitchFamily="34" charset="-120"/>
              </a:rPr>
              <a:t>Junior</a:t>
            </a:r>
            <a:endParaRPr lang="en-US" sz="1600" dirty="0"/>
          </a:p>
        </p:txBody>
      </p:sp>
      <p:sp>
        <p:nvSpPr>
          <p:cNvPr id="7" name="Text 4"/>
          <p:cNvSpPr txBox="1"/>
          <p:nvPr/>
        </p:nvSpPr>
        <p:spPr>
          <a:xfrm>
            <a:off x="609448" y="5394960"/>
            <a:ext cx="3291840" cy="365760"/>
          </a:xfrm>
          <a:prstGeom prst="rect">
            <a:avLst/>
          </a:prstGeom>
          <a:noFill/>
          <a:ln/>
        </p:spPr>
        <p:txBody>
          <a:bodyPr wrap="square" lIns="0" tIns="0" rIns="0" bIns="0" rtlCol="0" anchor="t"/>
          <a:lstStyle/>
          <a:p>
            <a:pPr algn="ctr" indent="0" marL="0">
              <a:buNone/>
            </a:pPr>
            <a:r>
              <a:rPr lang="en-US" sz="1600" dirty="0">
                <a:solidFill>
                  <a:srgbClr val="5B6675"/>
                </a:solidFill>
                <a:latin typeface="Calibri" pitchFamily="34" charset="0"/>
                <a:ea typeface="Calibri" pitchFamily="34" charset="-122"/>
                <a:cs typeface="Calibri" pitchFamily="34" charset="-120"/>
              </a:rPr>
              <a:t>Data Science &amp; Mathematics</a:t>
            </a:r>
            <a:endParaRPr lang="en-US" sz="1600" dirty="0"/>
          </a:p>
        </p:txBody>
      </p:sp>
      <p:sp>
        <p:nvSpPr>
          <p:cNvPr id="8" name="Shape 5"/>
          <p:cNvSpPr/>
          <p:nvPr/>
        </p:nvSpPr>
        <p:spPr>
          <a:xfrm>
            <a:off x="4824832" y="1746504"/>
            <a:ext cx="2542032" cy="2542032"/>
          </a:xfrm>
          <a:prstGeom prst="ellipse">
            <a:avLst/>
          </a:prstGeom>
          <a:solidFill>
            <a:srgbClr val="E3A92B"/>
          </a:solidFill>
          <a:ln w="12700">
            <a:solidFill>
              <a:srgbClr val="E3A92B"/>
            </a:solidFill>
            <a:prstDash val="solid"/>
          </a:ln>
        </p:spPr>
      </p:sp>
      <p:pic>
        <p:nvPicPr>
          <p:cNvPr id="9" name="Image 1" descr="Photo of Ananda">    </p:cNvPr>
          <p:cNvPicPr>
            <a:picLocks noChangeAspect="1"/>
          </p:cNvPicPr>
          <p:nvPr/>
        </p:nvPicPr>
        <p:blipFill>
          <a:blip r:embed="rId2"/>
          <a:stretch>
            <a:fillRect/>
          </a:stretch>
        </p:blipFill>
        <p:spPr>
          <a:xfrm>
            <a:off x="4907128" y="1828800"/>
            <a:ext cx="2377440" cy="2377440"/>
          </a:xfrm>
          <a:prstGeom prst="ellipse">
            <a:avLst/>
          </a:prstGeom>
        </p:spPr>
      </p:pic>
      <p:sp>
        <p:nvSpPr>
          <p:cNvPr id="10" name="Text 6"/>
          <p:cNvSpPr txBox="1"/>
          <p:nvPr/>
        </p:nvSpPr>
        <p:spPr>
          <a:xfrm>
            <a:off x="4449928" y="4572000"/>
            <a:ext cx="3291840" cy="457200"/>
          </a:xfrm>
          <a:prstGeom prst="rect">
            <a:avLst/>
          </a:prstGeom>
          <a:noFill/>
          <a:ln/>
        </p:spPr>
        <p:txBody>
          <a:bodyPr wrap="square" lIns="0" tIns="0" rIns="0" bIns="0" rtlCol="0" anchor="t"/>
          <a:lstStyle/>
          <a:p>
            <a:pPr algn="ctr" indent="0" marL="0">
              <a:buNone/>
            </a:pPr>
            <a:r>
              <a:rPr lang="en-US" sz="2400" b="1" dirty="0">
                <a:solidFill>
                  <a:srgbClr val="161B22"/>
                </a:solidFill>
                <a:latin typeface="Calibri" pitchFamily="34" charset="0"/>
                <a:ea typeface="Calibri" pitchFamily="34" charset="-122"/>
                <a:cs typeface="Calibri" pitchFamily="34" charset="-120"/>
              </a:rPr>
              <a:t>Ananda</a:t>
            </a:r>
            <a:endParaRPr lang="en-US" sz="2400" dirty="0"/>
          </a:p>
        </p:txBody>
      </p:sp>
      <p:sp>
        <p:nvSpPr>
          <p:cNvPr id="11" name="Text 7"/>
          <p:cNvSpPr txBox="1"/>
          <p:nvPr/>
        </p:nvSpPr>
        <p:spPr>
          <a:xfrm>
            <a:off x="4449928" y="5074920"/>
            <a:ext cx="3291840" cy="320040"/>
          </a:xfrm>
          <a:prstGeom prst="rect">
            <a:avLst/>
          </a:prstGeom>
          <a:noFill/>
          <a:ln/>
        </p:spPr>
        <p:txBody>
          <a:bodyPr wrap="square" lIns="0" tIns="0" rIns="0" bIns="0" rtlCol="0" anchor="t"/>
          <a:lstStyle/>
          <a:p>
            <a:pPr algn="ctr" indent="0" marL="0">
              <a:buNone/>
            </a:pPr>
            <a:r>
              <a:rPr lang="en-US" sz="1600" b="1" dirty="0">
                <a:solidFill>
                  <a:srgbClr val="8A5E00"/>
                </a:solidFill>
                <a:latin typeface="Calibri" pitchFamily="34" charset="0"/>
                <a:ea typeface="Calibri" pitchFamily="34" charset="-122"/>
                <a:cs typeface="Calibri" pitchFamily="34" charset="-120"/>
              </a:rPr>
              <a:t>Junior</a:t>
            </a:r>
            <a:endParaRPr lang="en-US" sz="1600" dirty="0"/>
          </a:p>
        </p:txBody>
      </p:sp>
      <p:sp>
        <p:nvSpPr>
          <p:cNvPr id="12" name="Text 8"/>
          <p:cNvSpPr txBox="1"/>
          <p:nvPr/>
        </p:nvSpPr>
        <p:spPr>
          <a:xfrm>
            <a:off x="4449928" y="5394960"/>
            <a:ext cx="3291840" cy="365760"/>
          </a:xfrm>
          <a:prstGeom prst="rect">
            <a:avLst/>
          </a:prstGeom>
          <a:noFill/>
          <a:ln/>
        </p:spPr>
        <p:txBody>
          <a:bodyPr wrap="square" lIns="0" tIns="0" rIns="0" bIns="0" rtlCol="0" anchor="t"/>
          <a:lstStyle/>
          <a:p>
            <a:pPr algn="ctr" indent="0" marL="0">
              <a:buNone/>
            </a:pPr>
            <a:r>
              <a:rPr lang="en-US" sz="1600" dirty="0">
                <a:solidFill>
                  <a:srgbClr val="5B6675"/>
                </a:solidFill>
                <a:latin typeface="Calibri" pitchFamily="34" charset="0"/>
                <a:ea typeface="Calibri" pitchFamily="34" charset="-122"/>
                <a:cs typeface="Calibri" pitchFamily="34" charset="-120"/>
              </a:rPr>
              <a:t>Computer Science</a:t>
            </a:r>
            <a:endParaRPr lang="en-US" sz="1600" dirty="0"/>
          </a:p>
        </p:txBody>
      </p:sp>
      <p:sp>
        <p:nvSpPr>
          <p:cNvPr id="13" name="Shape 9"/>
          <p:cNvSpPr/>
          <p:nvPr/>
        </p:nvSpPr>
        <p:spPr>
          <a:xfrm>
            <a:off x="8665312" y="1746504"/>
            <a:ext cx="2542032" cy="2542032"/>
          </a:xfrm>
          <a:prstGeom prst="ellipse">
            <a:avLst/>
          </a:prstGeom>
          <a:solidFill>
            <a:srgbClr val="E3A92B"/>
          </a:solidFill>
          <a:ln w="12700">
            <a:solidFill>
              <a:srgbClr val="E3A92B"/>
            </a:solidFill>
            <a:prstDash val="solid"/>
          </a:ln>
        </p:spPr>
      </p:sp>
      <p:pic>
        <p:nvPicPr>
          <p:cNvPr id="14" name="Image 2" descr="Photo of Mohith">    </p:cNvPr>
          <p:cNvPicPr>
            <a:picLocks noChangeAspect="1"/>
          </p:cNvPicPr>
          <p:nvPr/>
        </p:nvPicPr>
        <p:blipFill>
          <a:blip r:embed="rId3"/>
          <a:stretch>
            <a:fillRect/>
          </a:stretch>
        </p:blipFill>
        <p:spPr>
          <a:xfrm>
            <a:off x="8747608" y="1828800"/>
            <a:ext cx="2377440" cy="2377440"/>
          </a:xfrm>
          <a:prstGeom prst="ellipse">
            <a:avLst/>
          </a:prstGeom>
        </p:spPr>
      </p:pic>
      <p:sp>
        <p:nvSpPr>
          <p:cNvPr id="15" name="Text 10"/>
          <p:cNvSpPr txBox="1"/>
          <p:nvPr/>
        </p:nvSpPr>
        <p:spPr>
          <a:xfrm>
            <a:off x="8290408" y="4572000"/>
            <a:ext cx="3291840" cy="457200"/>
          </a:xfrm>
          <a:prstGeom prst="rect">
            <a:avLst/>
          </a:prstGeom>
          <a:noFill/>
          <a:ln/>
        </p:spPr>
        <p:txBody>
          <a:bodyPr wrap="square" lIns="0" tIns="0" rIns="0" bIns="0" rtlCol="0" anchor="t"/>
          <a:lstStyle/>
          <a:p>
            <a:pPr algn="ctr" indent="0" marL="0">
              <a:buNone/>
            </a:pPr>
            <a:r>
              <a:rPr lang="en-US" sz="2400" b="1" dirty="0">
                <a:solidFill>
                  <a:srgbClr val="161B22"/>
                </a:solidFill>
                <a:latin typeface="Calibri" pitchFamily="34" charset="0"/>
                <a:ea typeface="Calibri" pitchFamily="34" charset="-122"/>
                <a:cs typeface="Calibri" pitchFamily="34" charset="-120"/>
              </a:rPr>
              <a:t>Mohith</a:t>
            </a:r>
            <a:endParaRPr lang="en-US" sz="2400" dirty="0"/>
          </a:p>
        </p:txBody>
      </p:sp>
      <p:sp>
        <p:nvSpPr>
          <p:cNvPr id="16" name="Text 11"/>
          <p:cNvSpPr txBox="1"/>
          <p:nvPr/>
        </p:nvSpPr>
        <p:spPr>
          <a:xfrm>
            <a:off x="8290408" y="5074920"/>
            <a:ext cx="3291840" cy="320040"/>
          </a:xfrm>
          <a:prstGeom prst="rect">
            <a:avLst/>
          </a:prstGeom>
          <a:noFill/>
          <a:ln/>
        </p:spPr>
        <p:txBody>
          <a:bodyPr wrap="square" lIns="0" tIns="0" rIns="0" bIns="0" rtlCol="0" anchor="t"/>
          <a:lstStyle/>
          <a:p>
            <a:pPr algn="ctr" indent="0" marL="0">
              <a:buNone/>
            </a:pPr>
            <a:r>
              <a:rPr lang="en-US" sz="1600" b="1" dirty="0">
                <a:solidFill>
                  <a:srgbClr val="8A5E00"/>
                </a:solidFill>
                <a:latin typeface="Calibri" pitchFamily="34" charset="0"/>
                <a:ea typeface="Calibri" pitchFamily="34" charset="-122"/>
                <a:cs typeface="Calibri" pitchFamily="34" charset="-120"/>
              </a:rPr>
              <a:t>Junior</a:t>
            </a:r>
            <a:endParaRPr lang="en-US" sz="1600" dirty="0"/>
          </a:p>
        </p:txBody>
      </p:sp>
      <p:sp>
        <p:nvSpPr>
          <p:cNvPr id="17" name="Text 12"/>
          <p:cNvSpPr txBox="1"/>
          <p:nvPr/>
        </p:nvSpPr>
        <p:spPr>
          <a:xfrm>
            <a:off x="8290408" y="5394960"/>
            <a:ext cx="3291840" cy="365760"/>
          </a:xfrm>
          <a:prstGeom prst="rect">
            <a:avLst/>
          </a:prstGeom>
          <a:noFill/>
          <a:ln/>
        </p:spPr>
        <p:txBody>
          <a:bodyPr wrap="square" lIns="0" tIns="0" rIns="0" bIns="0" rtlCol="0" anchor="t"/>
          <a:lstStyle/>
          <a:p>
            <a:pPr algn="ctr" indent="0" marL="0">
              <a:buNone/>
            </a:pPr>
            <a:r>
              <a:rPr lang="en-US" sz="1600" dirty="0">
                <a:solidFill>
                  <a:srgbClr val="5B6675"/>
                </a:solidFill>
                <a:latin typeface="Calibri" pitchFamily="34" charset="0"/>
                <a:ea typeface="Calibri" pitchFamily="34" charset="-122"/>
                <a:cs typeface="Calibri" pitchFamily="34" charset="-120"/>
              </a:rPr>
              <a:t>Computer Engineering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t"/>
          <a:lstStyle/>
          <a:p>
            <a:pPr indent="0" marL="0">
              <a:buNone/>
            </a:pPr>
            <a:r>
              <a:rPr lang="en-US" sz="3600" b="1" dirty="0">
                <a:solidFill>
                  <a:srgbClr val="161B22"/>
                </a:solidFill>
                <a:latin typeface="Cambria" pitchFamily="34" charset="0"/>
                <a:ea typeface="Cambria" pitchFamily="34" charset="-122"/>
                <a:cs typeface="Cambria" pitchFamily="34" charset="-120"/>
              </a:rPr>
              <a:t>One place to manage all your AI agents</a:t>
            </a:r>
            <a:endParaRPr lang="en-US" sz="3600" dirty="0"/>
          </a:p>
        </p:txBody>
      </p:sp>
      <p:sp>
        <p:nvSpPr>
          <p:cNvPr id="3" name="Text 1"/>
          <p:cNvSpPr txBox="1"/>
          <p:nvPr/>
        </p:nvSpPr>
        <p:spPr>
          <a:xfrm>
            <a:off x="548640" y="1097280"/>
            <a:ext cx="11064240" cy="365760"/>
          </a:xfrm>
          <a:prstGeom prst="rect">
            <a:avLst/>
          </a:prstGeom>
          <a:noFill/>
          <a:ln/>
        </p:spPr>
        <p:txBody>
          <a:bodyPr wrap="square" lIns="0" tIns="0" rIns="0" bIns="0" rtlCol="0" anchor="t"/>
          <a:lstStyle/>
          <a:p>
            <a:pPr indent="0" marL="0">
              <a:buNone/>
            </a:pPr>
            <a:r>
              <a:rPr lang="en-US" sz="1700" dirty="0">
                <a:solidFill>
                  <a:srgbClr val="5B6675"/>
                </a:solidFill>
                <a:latin typeface="Calibri" pitchFamily="34" charset="0"/>
                <a:ea typeface="Calibri" pitchFamily="34" charset="-122"/>
                <a:cs typeface="Calibri" pitchFamily="34" charset="-120"/>
              </a:rPr>
              <a:t>Assay sits between the AI agents a company already uses and the people who review their work.</a:t>
            </a:r>
            <a:endParaRPr lang="en-US" sz="1700" dirty="0"/>
          </a:p>
        </p:txBody>
      </p:sp>
      <p:sp>
        <p:nvSpPr>
          <p:cNvPr id="4" name="Shape 2"/>
          <p:cNvSpPr/>
          <p:nvPr/>
        </p:nvSpPr>
        <p:spPr>
          <a:xfrm>
            <a:off x="548640" y="1783080"/>
            <a:ext cx="4846320" cy="4434840"/>
          </a:xfrm>
          <a:prstGeom prst="roundRect">
            <a:avLst>
              <a:gd name="adj" fmla="val 2474"/>
            </a:avLst>
          </a:prstGeom>
          <a:solidFill>
            <a:srgbClr val="F2F3F5"/>
          </a:solidFill>
          <a:ln w="12700">
            <a:solidFill>
              <a:srgbClr val="F2F3F5"/>
            </a:solidFill>
            <a:prstDash val="solid"/>
          </a:ln>
        </p:spPr>
      </p:sp>
      <p:sp>
        <p:nvSpPr>
          <p:cNvPr id="5" name="Text 3"/>
          <p:cNvSpPr txBox="1"/>
          <p:nvPr/>
        </p:nvSpPr>
        <p:spPr>
          <a:xfrm>
            <a:off x="868680" y="2057400"/>
            <a:ext cx="4206240" cy="274320"/>
          </a:xfrm>
          <a:prstGeom prst="rect">
            <a:avLst/>
          </a:prstGeom>
          <a:noFill/>
          <a:ln/>
        </p:spPr>
        <p:txBody>
          <a:bodyPr wrap="square" lIns="0" tIns="0" rIns="0" bIns="0" rtlCol="0" anchor="t"/>
          <a:lstStyle/>
          <a:p>
            <a:pPr indent="0" marL="0">
              <a:buNone/>
            </a:pPr>
            <a:r>
              <a:rPr lang="en-US" sz="1300" b="1" spc="200" kern="0" dirty="0">
                <a:solidFill>
                  <a:srgbClr val="8A5E00"/>
                </a:solidFill>
                <a:latin typeface="Calibri" pitchFamily="34" charset="0"/>
                <a:ea typeface="Calibri" pitchFamily="34" charset="-122"/>
                <a:cs typeface="Calibri" pitchFamily="34" charset="-120"/>
              </a:rPr>
              <a:t>THE PROBLEM</a:t>
            </a:r>
            <a:endParaRPr lang="en-US" sz="1300" dirty="0"/>
          </a:p>
        </p:txBody>
      </p:sp>
      <p:sp>
        <p:nvSpPr>
          <p:cNvPr id="6" name="Text 4"/>
          <p:cNvSpPr txBox="1"/>
          <p:nvPr/>
        </p:nvSpPr>
        <p:spPr>
          <a:xfrm>
            <a:off x="868680" y="2423160"/>
            <a:ext cx="4206240" cy="13716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Companies either trust AI agents blindly and clean up the mistakes, or check everything and lose the time the agent was meant to save.</a:t>
            </a:r>
            <a:endParaRPr lang="en-US" sz="1800" dirty="0"/>
          </a:p>
        </p:txBody>
      </p:sp>
      <p:sp>
        <p:nvSpPr>
          <p:cNvPr id="7" name="Text 5"/>
          <p:cNvSpPr txBox="1"/>
          <p:nvPr/>
        </p:nvSpPr>
        <p:spPr>
          <a:xfrm>
            <a:off x="868680" y="3886200"/>
            <a:ext cx="4206240" cy="36576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And an AI’s confidence is not proof:</a:t>
            </a:r>
            <a:endParaRPr lang="en-US" sz="1800" dirty="0"/>
          </a:p>
        </p:txBody>
      </p:sp>
      <p:sp>
        <p:nvSpPr>
          <p:cNvPr id="8" name="Text 6"/>
          <p:cNvSpPr txBox="1"/>
          <p:nvPr/>
        </p:nvSpPr>
        <p:spPr>
          <a:xfrm>
            <a:off x="868680" y="4297680"/>
            <a:ext cx="4206240" cy="868680"/>
          </a:xfrm>
          <a:prstGeom prst="rect">
            <a:avLst/>
          </a:prstGeom>
          <a:noFill/>
          <a:ln/>
        </p:spPr>
        <p:txBody>
          <a:bodyPr wrap="square" lIns="0" tIns="0" rIns="0" bIns="0" rtlCol="0" anchor="t"/>
          <a:lstStyle/>
          <a:p>
            <a:pPr indent="0" marL="0">
              <a:buNone/>
            </a:pPr>
            <a:r>
              <a:rPr lang="en-US" sz="5600" b="1" dirty="0">
                <a:solidFill>
                  <a:srgbClr val="161B22"/>
                </a:solidFill>
                <a:latin typeface="Cambria" pitchFamily="34" charset="0"/>
                <a:ea typeface="Cambria" pitchFamily="34" charset="-122"/>
                <a:cs typeface="Cambria" pitchFamily="34" charset="-120"/>
              </a:rPr>
              <a:t>4 of 19</a:t>
            </a:r>
            <a:endParaRPr lang="en-US" sz="5600" dirty="0"/>
          </a:p>
        </p:txBody>
      </p:sp>
      <p:sp>
        <p:nvSpPr>
          <p:cNvPr id="9" name="Text 7"/>
          <p:cNvSpPr txBox="1"/>
          <p:nvPr/>
        </p:nvSpPr>
        <p:spPr>
          <a:xfrm>
            <a:off x="868680" y="5212080"/>
            <a:ext cx="4206240" cy="73152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answers were right when a model we tested said it was “95% sure”</a:t>
            </a:r>
            <a:endParaRPr lang="en-US" sz="1500" dirty="0"/>
          </a:p>
        </p:txBody>
      </p:sp>
      <p:sp>
        <p:nvSpPr>
          <p:cNvPr id="10" name="Text 8"/>
          <p:cNvSpPr txBox="1"/>
          <p:nvPr/>
        </p:nvSpPr>
        <p:spPr>
          <a:xfrm>
            <a:off x="5852160" y="2057400"/>
            <a:ext cx="5486400" cy="274320"/>
          </a:xfrm>
          <a:prstGeom prst="rect">
            <a:avLst/>
          </a:prstGeom>
          <a:noFill/>
          <a:ln/>
        </p:spPr>
        <p:txBody>
          <a:bodyPr wrap="square" lIns="0" tIns="0" rIns="0" bIns="0" rtlCol="0" anchor="t"/>
          <a:lstStyle/>
          <a:p>
            <a:pPr indent="0" marL="0">
              <a:buNone/>
            </a:pPr>
            <a:r>
              <a:rPr lang="en-US" sz="1300" b="1" spc="200" kern="0" dirty="0">
                <a:solidFill>
                  <a:srgbClr val="8A5E00"/>
                </a:solidFill>
                <a:latin typeface="Calibri" pitchFamily="34" charset="0"/>
                <a:ea typeface="Calibri" pitchFamily="34" charset="-122"/>
                <a:cs typeface="Calibri" pitchFamily="34" charset="-120"/>
              </a:rPr>
              <a:t>WHAT ASSAY DOES</a:t>
            </a:r>
            <a:endParaRPr lang="en-US" sz="1300" dirty="0"/>
          </a:p>
        </p:txBody>
      </p:sp>
      <p:sp>
        <p:nvSpPr>
          <p:cNvPr id="11" name="Shape 9"/>
          <p:cNvSpPr/>
          <p:nvPr/>
        </p:nvSpPr>
        <p:spPr>
          <a:xfrm>
            <a:off x="5852160" y="2487168"/>
            <a:ext cx="640080" cy="640080"/>
          </a:xfrm>
          <a:prstGeom prst="ellipse">
            <a:avLst/>
          </a:prstGeom>
          <a:solidFill>
            <a:srgbClr val="E3A92B"/>
          </a:solidFill>
          <a:ln w="12700">
            <a:solidFill>
              <a:srgbClr val="E3A92B"/>
            </a:solidFill>
            <a:prstDash val="solid"/>
          </a:ln>
        </p:spPr>
      </p:sp>
      <p:pic>
        <p:nvPicPr>
          <p:cNvPr id="12" name="Image 0" descr="preencoded.png">    </p:cNvPr>
          <p:cNvPicPr>
            <a:picLocks noChangeAspect="1"/>
          </p:cNvPicPr>
          <p:nvPr/>
        </p:nvPicPr>
        <p:blipFill>
          <a:blip r:embed="rId1"/>
          <a:stretch>
            <a:fillRect/>
          </a:stretch>
        </p:blipFill>
        <p:spPr>
          <a:xfrm>
            <a:off x="6012180" y="2647188"/>
            <a:ext cx="320040" cy="320040"/>
          </a:xfrm>
          <a:prstGeom prst="rect">
            <a:avLst/>
          </a:prstGeom>
        </p:spPr>
      </p:pic>
      <p:sp>
        <p:nvSpPr>
          <p:cNvPr id="13" name="Text 10"/>
          <p:cNvSpPr txBox="1"/>
          <p:nvPr/>
        </p:nvSpPr>
        <p:spPr>
          <a:xfrm>
            <a:off x="6720840" y="2468880"/>
            <a:ext cx="4892040" cy="347472"/>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Act alone or ask?</a:t>
            </a:r>
            <a:endParaRPr lang="en-US" sz="1900" dirty="0"/>
          </a:p>
        </p:txBody>
      </p:sp>
      <p:sp>
        <p:nvSpPr>
          <p:cNvPr id="14" name="Text 11"/>
          <p:cNvSpPr txBox="1"/>
          <p:nvPr/>
        </p:nvSpPr>
        <p:spPr>
          <a:xfrm>
            <a:off x="6720840" y="2834640"/>
            <a:ext cx="4892040" cy="45720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An agent works on its own only where its checked track record proves it.</a:t>
            </a:r>
            <a:endParaRPr lang="en-US" sz="1500" dirty="0"/>
          </a:p>
        </p:txBody>
      </p:sp>
      <p:sp>
        <p:nvSpPr>
          <p:cNvPr id="15" name="Shape 12"/>
          <p:cNvSpPr/>
          <p:nvPr/>
        </p:nvSpPr>
        <p:spPr>
          <a:xfrm>
            <a:off x="5852160" y="3419856"/>
            <a:ext cx="640080" cy="640080"/>
          </a:xfrm>
          <a:prstGeom prst="ellipse">
            <a:avLst/>
          </a:prstGeom>
          <a:solidFill>
            <a:srgbClr val="E3A92B"/>
          </a:solidFill>
          <a:ln w="12700">
            <a:solidFill>
              <a:srgbClr val="E3A92B"/>
            </a:solidFill>
            <a:prstDash val="solid"/>
          </a:ln>
        </p:spPr>
      </p:sp>
      <p:pic>
        <p:nvPicPr>
          <p:cNvPr id="16" name="Image 1" descr="preencoded.png">    </p:cNvPr>
          <p:cNvPicPr>
            <a:picLocks noChangeAspect="1"/>
          </p:cNvPicPr>
          <p:nvPr/>
        </p:nvPicPr>
        <p:blipFill>
          <a:blip r:embed="rId2"/>
          <a:stretch>
            <a:fillRect/>
          </a:stretch>
        </p:blipFill>
        <p:spPr>
          <a:xfrm>
            <a:off x="6012180" y="3579876"/>
            <a:ext cx="320040" cy="320040"/>
          </a:xfrm>
          <a:prstGeom prst="rect">
            <a:avLst/>
          </a:prstGeom>
        </p:spPr>
      </p:pic>
      <p:sp>
        <p:nvSpPr>
          <p:cNvPr id="17" name="Text 13"/>
          <p:cNvSpPr txBox="1"/>
          <p:nvPr/>
        </p:nvSpPr>
        <p:spPr>
          <a:xfrm>
            <a:off x="6720840" y="3401568"/>
            <a:ext cx="4892040" cy="347472"/>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Pick the right model</a:t>
            </a:r>
            <a:endParaRPr lang="en-US" sz="1900" dirty="0"/>
          </a:p>
        </p:txBody>
      </p:sp>
      <p:sp>
        <p:nvSpPr>
          <p:cNvPr id="18" name="Text 14"/>
          <p:cNvSpPr txBox="1"/>
          <p:nvPr/>
        </p:nvSpPr>
        <p:spPr>
          <a:xfrm>
            <a:off x="6720840" y="3767328"/>
            <a:ext cx="4892040" cy="45720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Cheaper models only where they’ve earned it; a backup when one is busy.</a:t>
            </a:r>
            <a:endParaRPr lang="en-US" sz="1500" dirty="0"/>
          </a:p>
        </p:txBody>
      </p:sp>
      <p:sp>
        <p:nvSpPr>
          <p:cNvPr id="19" name="Shape 15"/>
          <p:cNvSpPr/>
          <p:nvPr/>
        </p:nvSpPr>
        <p:spPr>
          <a:xfrm>
            <a:off x="5852160" y="4352544"/>
            <a:ext cx="640080" cy="640080"/>
          </a:xfrm>
          <a:prstGeom prst="ellipse">
            <a:avLst/>
          </a:prstGeom>
          <a:solidFill>
            <a:srgbClr val="E3A92B"/>
          </a:solidFill>
          <a:ln w="12700">
            <a:solidFill>
              <a:srgbClr val="E3A92B"/>
            </a:solidFill>
            <a:prstDash val="solid"/>
          </a:ln>
        </p:spPr>
      </p:sp>
      <p:pic>
        <p:nvPicPr>
          <p:cNvPr id="20" name="Image 2" descr="preencoded.png">    </p:cNvPr>
          <p:cNvPicPr>
            <a:picLocks noChangeAspect="1"/>
          </p:cNvPicPr>
          <p:nvPr/>
        </p:nvPicPr>
        <p:blipFill>
          <a:blip r:embed="rId3"/>
          <a:stretch>
            <a:fillRect/>
          </a:stretch>
        </p:blipFill>
        <p:spPr>
          <a:xfrm>
            <a:off x="6012180" y="4512564"/>
            <a:ext cx="320040" cy="320040"/>
          </a:xfrm>
          <a:prstGeom prst="rect">
            <a:avLst/>
          </a:prstGeom>
        </p:spPr>
      </p:pic>
      <p:sp>
        <p:nvSpPr>
          <p:cNvPr id="21" name="Text 16"/>
          <p:cNvSpPr txBox="1"/>
          <p:nvPr/>
        </p:nvSpPr>
        <p:spPr>
          <a:xfrm>
            <a:off x="6720840" y="4334256"/>
            <a:ext cx="4892040" cy="347472"/>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Test every correction</a:t>
            </a:r>
            <a:endParaRPr lang="en-US" sz="1900" dirty="0"/>
          </a:p>
        </p:txBody>
      </p:sp>
      <p:sp>
        <p:nvSpPr>
          <p:cNvPr id="22" name="Text 17"/>
          <p:cNvSpPr txBox="1"/>
          <p:nvPr/>
        </p:nvSpPr>
        <p:spPr>
          <a:xfrm>
            <a:off x="6720840" y="4700016"/>
            <a:ext cx="4892040" cy="45720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 new rule is tried on fresh cases before it’s switched on.</a:t>
            </a:r>
            <a:endParaRPr lang="en-US" sz="1500" dirty="0"/>
          </a:p>
        </p:txBody>
      </p:sp>
      <p:sp>
        <p:nvSpPr>
          <p:cNvPr id="23" name="Shape 18"/>
          <p:cNvSpPr/>
          <p:nvPr/>
        </p:nvSpPr>
        <p:spPr>
          <a:xfrm>
            <a:off x="5852160" y="5285232"/>
            <a:ext cx="640080" cy="640080"/>
          </a:xfrm>
          <a:prstGeom prst="ellipse">
            <a:avLst/>
          </a:prstGeom>
          <a:solidFill>
            <a:srgbClr val="E3A92B"/>
          </a:solidFill>
          <a:ln w="12700">
            <a:solidFill>
              <a:srgbClr val="E3A92B"/>
            </a:solidFill>
            <a:prstDash val="solid"/>
          </a:ln>
        </p:spPr>
      </p:sp>
      <p:pic>
        <p:nvPicPr>
          <p:cNvPr id="24" name="Image 3" descr="preencoded.png">    </p:cNvPr>
          <p:cNvPicPr>
            <a:picLocks noChangeAspect="1"/>
          </p:cNvPicPr>
          <p:nvPr/>
        </p:nvPicPr>
        <p:blipFill>
          <a:blip r:embed="rId4"/>
          <a:stretch>
            <a:fillRect/>
          </a:stretch>
        </p:blipFill>
        <p:spPr>
          <a:xfrm>
            <a:off x="6012180" y="5445252"/>
            <a:ext cx="320040" cy="320040"/>
          </a:xfrm>
          <a:prstGeom prst="rect">
            <a:avLst/>
          </a:prstGeom>
        </p:spPr>
      </p:pic>
      <p:sp>
        <p:nvSpPr>
          <p:cNvPr id="25" name="Text 19"/>
          <p:cNvSpPr txBox="1"/>
          <p:nvPr/>
        </p:nvSpPr>
        <p:spPr>
          <a:xfrm>
            <a:off x="6720840" y="5266944"/>
            <a:ext cx="4892040" cy="347472"/>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Learn from reviewers</a:t>
            </a:r>
            <a:endParaRPr lang="en-US" sz="1900" dirty="0"/>
          </a:p>
        </p:txBody>
      </p:sp>
      <p:sp>
        <p:nvSpPr>
          <p:cNvPr id="26" name="Text 20"/>
          <p:cNvSpPr txBox="1"/>
          <p:nvPr/>
        </p:nvSpPr>
        <p:spPr>
          <a:xfrm>
            <a:off x="6720840" y="5632704"/>
            <a:ext cx="4892040" cy="45720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Every Yes / No becomes evidence toward handling that case alone.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t"/>
          <a:lstStyle/>
          <a:p>
            <a:pPr indent="0" marL="0">
              <a:buNone/>
            </a:pPr>
            <a:r>
              <a:rPr lang="en-US" sz="3600" b="1" dirty="0">
                <a:solidFill>
                  <a:srgbClr val="161B22"/>
                </a:solidFill>
                <a:latin typeface="Cambria" pitchFamily="34" charset="0"/>
                <a:ea typeface="Cambria" pitchFamily="34" charset="-122"/>
                <a:cs typeface="Cambria" pitchFamily="34" charset="-120"/>
              </a:rPr>
              <a:t>How it works</a:t>
            </a:r>
            <a:endParaRPr lang="en-US" sz="3600" dirty="0"/>
          </a:p>
        </p:txBody>
      </p:sp>
      <p:sp>
        <p:nvSpPr>
          <p:cNvPr id="3" name="Text 1"/>
          <p:cNvSpPr txBox="1"/>
          <p:nvPr/>
        </p:nvSpPr>
        <p:spPr>
          <a:xfrm>
            <a:off x="548640" y="1097280"/>
            <a:ext cx="11064240" cy="365760"/>
          </a:xfrm>
          <a:prstGeom prst="rect">
            <a:avLst/>
          </a:prstGeom>
          <a:noFill/>
          <a:ln/>
        </p:spPr>
        <p:txBody>
          <a:bodyPr wrap="square" lIns="0" tIns="0" rIns="0" bIns="0" rtlCol="0" anchor="t"/>
          <a:lstStyle/>
          <a:p>
            <a:pPr indent="0" marL="0">
              <a:buNone/>
            </a:pPr>
            <a:r>
              <a:rPr lang="en-US" sz="1700" dirty="0">
                <a:solidFill>
                  <a:srgbClr val="5B6675"/>
                </a:solidFill>
                <a:latin typeface="Calibri" pitchFamily="34" charset="0"/>
                <a:ea typeface="Calibri" pitchFamily="34" charset="-122"/>
                <a:cs typeface="Calibri" pitchFamily="34" charset="-120"/>
              </a:rPr>
              <a:t>The agent proposes, Assay decides, people correct, and Assay learns from every answer.</a:t>
            </a:r>
            <a:endParaRPr lang="en-US" sz="1700" dirty="0"/>
          </a:p>
        </p:txBody>
      </p:sp>
      <p:sp>
        <p:nvSpPr>
          <p:cNvPr id="4" name="Shape 2"/>
          <p:cNvSpPr/>
          <p:nvPr/>
        </p:nvSpPr>
        <p:spPr>
          <a:xfrm>
            <a:off x="548640" y="1920240"/>
            <a:ext cx="2377440" cy="2926080"/>
          </a:xfrm>
          <a:prstGeom prst="roundRect">
            <a:avLst>
              <a:gd name="adj" fmla="val 4615"/>
            </a:avLst>
          </a:prstGeom>
          <a:solidFill>
            <a:srgbClr val="F2F3F5"/>
          </a:solidFill>
          <a:ln w="12700">
            <a:solidFill>
              <a:srgbClr val="F2F3F5"/>
            </a:solidFill>
            <a:prstDash val="solid"/>
          </a:ln>
        </p:spPr>
      </p:sp>
      <p:sp>
        <p:nvSpPr>
          <p:cNvPr id="5" name="Shape 3"/>
          <p:cNvSpPr/>
          <p:nvPr/>
        </p:nvSpPr>
        <p:spPr>
          <a:xfrm>
            <a:off x="777240" y="2148840"/>
            <a:ext cx="566928" cy="566928"/>
          </a:xfrm>
          <a:prstGeom prst="ellipse">
            <a:avLst/>
          </a:prstGeom>
          <a:solidFill>
            <a:srgbClr val="E3A92B"/>
          </a:solidFill>
          <a:ln w="12700">
            <a:solidFill>
              <a:srgbClr val="E3A92B"/>
            </a:solidFill>
            <a:prstDash val="solid"/>
          </a:ln>
        </p:spPr>
      </p:sp>
      <p:pic>
        <p:nvPicPr>
          <p:cNvPr id="6" name="Image 0" descr="preencoded.png">    </p:cNvPr>
          <p:cNvPicPr>
            <a:picLocks noChangeAspect="1"/>
          </p:cNvPicPr>
          <p:nvPr/>
        </p:nvPicPr>
        <p:blipFill>
          <a:blip r:embed="rId1"/>
          <a:stretch>
            <a:fillRect/>
          </a:stretch>
        </p:blipFill>
        <p:spPr>
          <a:xfrm>
            <a:off x="918972" y="2290572"/>
            <a:ext cx="283464" cy="283464"/>
          </a:xfrm>
          <a:prstGeom prst="rect">
            <a:avLst/>
          </a:prstGeom>
        </p:spPr>
      </p:pic>
      <p:sp>
        <p:nvSpPr>
          <p:cNvPr id="7" name="Text 4"/>
          <p:cNvSpPr txBox="1"/>
          <p:nvPr/>
        </p:nvSpPr>
        <p:spPr>
          <a:xfrm>
            <a:off x="1481328" y="2148840"/>
            <a:ext cx="1371600" cy="566928"/>
          </a:xfrm>
          <a:prstGeom prst="rect">
            <a:avLst/>
          </a:prstGeom>
          <a:noFill/>
          <a:ln/>
        </p:spPr>
        <p:txBody>
          <a:bodyPr wrap="square" lIns="0" tIns="0" rIns="0" bIns="0" rtlCol="0" anchor="ctr"/>
          <a:lstStyle/>
          <a:p>
            <a:pPr indent="0" marL="0">
              <a:buNone/>
            </a:pPr>
            <a:r>
              <a:rPr lang="en-US" sz="1300" b="1" spc="100" kern="0" dirty="0">
                <a:solidFill>
                  <a:srgbClr val="8A5E00"/>
                </a:solidFill>
                <a:latin typeface="Calibri" pitchFamily="34" charset="0"/>
                <a:ea typeface="Calibri" pitchFamily="34" charset="-122"/>
                <a:cs typeface="Calibri" pitchFamily="34" charset="-120"/>
              </a:rPr>
              <a:t>1  READS</a:t>
            </a:r>
            <a:endParaRPr lang="en-US" sz="1300" dirty="0"/>
          </a:p>
        </p:txBody>
      </p:sp>
      <p:sp>
        <p:nvSpPr>
          <p:cNvPr id="8" name="Text 5"/>
          <p:cNvSpPr txBox="1"/>
          <p:nvPr/>
        </p:nvSpPr>
        <p:spPr>
          <a:xfrm>
            <a:off x="777240" y="2880360"/>
            <a:ext cx="196596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Apache Jira</a:t>
            </a:r>
            <a:endParaRPr lang="en-US" sz="1900" dirty="0"/>
          </a:p>
        </p:txBody>
      </p:sp>
      <p:sp>
        <p:nvSpPr>
          <p:cNvPr id="9" name="Text 6"/>
          <p:cNvSpPr txBox="1"/>
          <p:nvPr/>
        </p:nvSpPr>
        <p:spPr>
          <a:xfrm>
            <a:off x="777240" y="3310128"/>
            <a:ext cx="1965960" cy="141732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37,853 real tickets from Spark, Kafka, Flink and Hive</a:t>
            </a:r>
            <a:endParaRPr lang="en-US" sz="1500" dirty="0"/>
          </a:p>
        </p:txBody>
      </p:sp>
      <p:sp>
        <p:nvSpPr>
          <p:cNvPr id="10" name="Shape 7"/>
          <p:cNvSpPr/>
          <p:nvPr/>
        </p:nvSpPr>
        <p:spPr>
          <a:xfrm>
            <a:off x="3017520" y="3383280"/>
            <a:ext cx="345338" cy="0"/>
          </a:xfrm>
          <a:prstGeom prst="line">
            <a:avLst/>
          </a:prstGeom>
          <a:noFill/>
          <a:ln w="31750">
            <a:solidFill>
              <a:srgbClr val="E3A92B"/>
            </a:solidFill>
            <a:prstDash val="solid"/>
            <a:tailEnd type="triangle"/>
          </a:ln>
        </p:spPr>
      </p:sp>
      <p:sp>
        <p:nvSpPr>
          <p:cNvPr id="11" name="Shape 8"/>
          <p:cNvSpPr/>
          <p:nvPr/>
        </p:nvSpPr>
        <p:spPr>
          <a:xfrm>
            <a:off x="3454298" y="1920240"/>
            <a:ext cx="2377440" cy="2926080"/>
          </a:xfrm>
          <a:prstGeom prst="roundRect">
            <a:avLst>
              <a:gd name="adj" fmla="val 4615"/>
            </a:avLst>
          </a:prstGeom>
          <a:solidFill>
            <a:srgbClr val="F2F3F5"/>
          </a:solidFill>
          <a:ln w="12700">
            <a:solidFill>
              <a:srgbClr val="F2F3F5"/>
            </a:solidFill>
            <a:prstDash val="solid"/>
          </a:ln>
        </p:spPr>
      </p:sp>
      <p:sp>
        <p:nvSpPr>
          <p:cNvPr id="12" name="Shape 9"/>
          <p:cNvSpPr/>
          <p:nvPr/>
        </p:nvSpPr>
        <p:spPr>
          <a:xfrm>
            <a:off x="3682898" y="2148840"/>
            <a:ext cx="566928" cy="566928"/>
          </a:xfrm>
          <a:prstGeom prst="ellipse">
            <a:avLst/>
          </a:prstGeom>
          <a:solidFill>
            <a:srgbClr val="E3A92B"/>
          </a:solidFill>
          <a:ln w="12700">
            <a:solidFill>
              <a:srgbClr val="E3A92B"/>
            </a:solidFill>
            <a:prstDash val="solid"/>
          </a:ln>
        </p:spPr>
      </p:sp>
      <p:pic>
        <p:nvPicPr>
          <p:cNvPr id="13" name="Image 1" descr="preencoded.png">    </p:cNvPr>
          <p:cNvPicPr>
            <a:picLocks noChangeAspect="1"/>
          </p:cNvPicPr>
          <p:nvPr/>
        </p:nvPicPr>
        <p:blipFill>
          <a:blip r:embed="rId2"/>
          <a:stretch>
            <a:fillRect/>
          </a:stretch>
        </p:blipFill>
        <p:spPr>
          <a:xfrm>
            <a:off x="3824630" y="2290572"/>
            <a:ext cx="283464" cy="283464"/>
          </a:xfrm>
          <a:prstGeom prst="rect">
            <a:avLst/>
          </a:prstGeom>
        </p:spPr>
      </p:pic>
      <p:sp>
        <p:nvSpPr>
          <p:cNvPr id="14" name="Text 10"/>
          <p:cNvSpPr txBox="1"/>
          <p:nvPr/>
        </p:nvSpPr>
        <p:spPr>
          <a:xfrm>
            <a:off x="4386986" y="2148840"/>
            <a:ext cx="1371600" cy="566928"/>
          </a:xfrm>
          <a:prstGeom prst="rect">
            <a:avLst/>
          </a:prstGeom>
          <a:noFill/>
          <a:ln/>
        </p:spPr>
        <p:txBody>
          <a:bodyPr wrap="square" lIns="0" tIns="0" rIns="0" bIns="0" rtlCol="0" anchor="ctr"/>
          <a:lstStyle/>
          <a:p>
            <a:pPr indent="0" marL="0">
              <a:buNone/>
            </a:pPr>
            <a:r>
              <a:rPr lang="en-US" sz="1300" b="1" spc="100" kern="0" dirty="0">
                <a:solidFill>
                  <a:srgbClr val="8A5E00"/>
                </a:solidFill>
                <a:latin typeface="Calibri" pitchFamily="34" charset="0"/>
                <a:ea typeface="Calibri" pitchFamily="34" charset="-122"/>
                <a:cs typeface="Calibri" pitchFamily="34" charset="-120"/>
              </a:rPr>
              <a:t>2  DECIDES</a:t>
            </a:r>
            <a:endParaRPr lang="en-US" sz="1300" dirty="0"/>
          </a:p>
        </p:txBody>
      </p:sp>
      <p:sp>
        <p:nvSpPr>
          <p:cNvPr id="15" name="Text 11"/>
          <p:cNvSpPr txBox="1"/>
          <p:nvPr/>
        </p:nvSpPr>
        <p:spPr>
          <a:xfrm>
            <a:off x="3682898" y="2880360"/>
            <a:ext cx="196596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Triage agent</a:t>
            </a:r>
            <a:endParaRPr lang="en-US" sz="1900" dirty="0"/>
          </a:p>
        </p:txBody>
      </p:sp>
      <p:sp>
        <p:nvSpPr>
          <p:cNvPr id="16" name="Text 12"/>
          <p:cNvSpPr txBox="1"/>
          <p:nvPr/>
        </p:nvSpPr>
        <p:spPr>
          <a:xfrm>
            <a:off x="3682898" y="3310128"/>
            <a:ext cx="1965960" cy="141732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Finds earlier look-alike tickets; an AI model calls duplicate, part of, related or none</a:t>
            </a:r>
            <a:endParaRPr lang="en-US" sz="1500" dirty="0"/>
          </a:p>
        </p:txBody>
      </p:sp>
      <p:sp>
        <p:nvSpPr>
          <p:cNvPr id="17" name="Shape 13"/>
          <p:cNvSpPr/>
          <p:nvPr/>
        </p:nvSpPr>
        <p:spPr>
          <a:xfrm>
            <a:off x="5923178" y="3383280"/>
            <a:ext cx="345338" cy="0"/>
          </a:xfrm>
          <a:prstGeom prst="line">
            <a:avLst/>
          </a:prstGeom>
          <a:noFill/>
          <a:ln w="31750">
            <a:solidFill>
              <a:srgbClr val="E3A92B"/>
            </a:solidFill>
            <a:prstDash val="solid"/>
            <a:tailEnd type="triangle"/>
          </a:ln>
        </p:spPr>
      </p:sp>
      <p:sp>
        <p:nvSpPr>
          <p:cNvPr id="18" name="Shape 14"/>
          <p:cNvSpPr/>
          <p:nvPr/>
        </p:nvSpPr>
        <p:spPr>
          <a:xfrm>
            <a:off x="6359957" y="1920240"/>
            <a:ext cx="2377440" cy="2926080"/>
          </a:xfrm>
          <a:prstGeom prst="roundRect">
            <a:avLst>
              <a:gd name="adj" fmla="val 4615"/>
            </a:avLst>
          </a:prstGeom>
          <a:solidFill>
            <a:srgbClr val="161B22"/>
          </a:solidFill>
          <a:ln w="12700">
            <a:solidFill>
              <a:srgbClr val="161B22"/>
            </a:solidFill>
            <a:prstDash val="solid"/>
          </a:ln>
        </p:spPr>
      </p:sp>
      <p:sp>
        <p:nvSpPr>
          <p:cNvPr id="19" name="Shape 15"/>
          <p:cNvSpPr/>
          <p:nvPr/>
        </p:nvSpPr>
        <p:spPr>
          <a:xfrm>
            <a:off x="6588557" y="2148840"/>
            <a:ext cx="566928" cy="566928"/>
          </a:xfrm>
          <a:prstGeom prst="ellipse">
            <a:avLst/>
          </a:prstGeom>
          <a:solidFill>
            <a:srgbClr val="E3A92B"/>
          </a:solidFill>
          <a:ln w="12700">
            <a:solidFill>
              <a:srgbClr val="E3A92B"/>
            </a:solidFill>
            <a:prstDash val="solid"/>
          </a:ln>
        </p:spPr>
      </p:sp>
      <p:pic>
        <p:nvPicPr>
          <p:cNvPr id="20" name="Image 2" descr="preencoded.png">    </p:cNvPr>
          <p:cNvPicPr>
            <a:picLocks noChangeAspect="1"/>
          </p:cNvPicPr>
          <p:nvPr/>
        </p:nvPicPr>
        <p:blipFill>
          <a:blip r:embed="rId3"/>
          <a:stretch>
            <a:fillRect/>
          </a:stretch>
        </p:blipFill>
        <p:spPr>
          <a:xfrm>
            <a:off x="6730289" y="2290572"/>
            <a:ext cx="283464" cy="283464"/>
          </a:xfrm>
          <a:prstGeom prst="rect">
            <a:avLst/>
          </a:prstGeom>
        </p:spPr>
      </p:pic>
      <p:sp>
        <p:nvSpPr>
          <p:cNvPr id="21" name="Text 16"/>
          <p:cNvSpPr txBox="1"/>
          <p:nvPr/>
        </p:nvSpPr>
        <p:spPr>
          <a:xfrm>
            <a:off x="7292645" y="2148840"/>
            <a:ext cx="1371600" cy="566928"/>
          </a:xfrm>
          <a:prstGeom prst="rect">
            <a:avLst/>
          </a:prstGeom>
          <a:noFill/>
          <a:ln/>
        </p:spPr>
        <p:txBody>
          <a:bodyPr wrap="square" lIns="0" tIns="0" rIns="0" bIns="0" rtlCol="0" anchor="ctr"/>
          <a:lstStyle/>
          <a:p>
            <a:pPr indent="0" marL="0">
              <a:buNone/>
            </a:pPr>
            <a:r>
              <a:rPr lang="en-US" sz="1300" b="1" spc="100" kern="0" dirty="0">
                <a:solidFill>
                  <a:srgbClr val="E3A92B"/>
                </a:solidFill>
                <a:latin typeface="Calibri" pitchFamily="34" charset="0"/>
                <a:ea typeface="Calibri" pitchFamily="34" charset="-122"/>
                <a:cs typeface="Calibri" pitchFamily="34" charset="-120"/>
              </a:rPr>
              <a:t>3  CHECKS</a:t>
            </a:r>
            <a:endParaRPr lang="en-US" sz="1300" dirty="0"/>
          </a:p>
        </p:txBody>
      </p:sp>
      <p:sp>
        <p:nvSpPr>
          <p:cNvPr id="22" name="Text 17"/>
          <p:cNvSpPr txBox="1"/>
          <p:nvPr/>
        </p:nvSpPr>
        <p:spPr>
          <a:xfrm>
            <a:off x="6588557" y="2880360"/>
            <a:ext cx="1965960" cy="384048"/>
          </a:xfrm>
          <a:prstGeom prst="rect">
            <a:avLst/>
          </a:prstGeom>
          <a:noFill/>
          <a:ln/>
        </p:spPr>
        <p:txBody>
          <a:bodyPr wrap="square" lIns="0" tIns="0" rIns="0" bIns="0" rtlCol="0" anchor="t"/>
          <a:lstStyle/>
          <a:p>
            <a:pPr indent="0" marL="0">
              <a:buNone/>
            </a:pPr>
            <a:r>
              <a:rPr lang="en-US" sz="1900" b="1" dirty="0">
                <a:solidFill>
                  <a:srgbClr val="F5F3EE"/>
                </a:solidFill>
                <a:latin typeface="Calibri" pitchFamily="34" charset="0"/>
                <a:ea typeface="Calibri" pitchFamily="34" charset="-122"/>
                <a:cs typeface="Calibri" pitchFamily="34" charset="-120"/>
              </a:rPr>
              <a:t>Assay</a:t>
            </a:r>
            <a:endParaRPr lang="en-US" sz="1900" dirty="0"/>
          </a:p>
        </p:txBody>
      </p:sp>
      <p:sp>
        <p:nvSpPr>
          <p:cNvPr id="23" name="Text 18"/>
          <p:cNvSpPr txBox="1"/>
          <p:nvPr/>
        </p:nvSpPr>
        <p:spPr>
          <a:xfrm>
            <a:off x="6588557" y="3310128"/>
            <a:ext cx="1965960" cy="1417320"/>
          </a:xfrm>
          <a:prstGeom prst="rect">
            <a:avLst/>
          </a:prstGeom>
          <a:noFill/>
          <a:ln/>
        </p:spPr>
        <p:txBody>
          <a:bodyPr wrap="square" lIns="0" tIns="0" rIns="0" bIns="0" rtlCol="0" anchor="t"/>
          <a:lstStyle/>
          <a:p>
            <a:pPr indent="0" marL="0">
              <a:buNone/>
            </a:pPr>
            <a:r>
              <a:rPr lang="en-US" sz="1500" dirty="0">
                <a:solidFill>
                  <a:srgbClr val="AEB6C1"/>
                </a:solidFill>
                <a:latin typeface="Calibri" pitchFamily="34" charset="0"/>
                <a:ea typeface="Calibri" pitchFamily="34" charset="-122"/>
                <a:cs typeface="Calibri" pitchFamily="34" charset="-120"/>
              </a:rPr>
              <a:t>Proven: acts alone. Not proven: asks a person. Picks the model and tests every correction</a:t>
            </a:r>
            <a:endParaRPr lang="en-US" sz="1500" dirty="0"/>
          </a:p>
        </p:txBody>
      </p:sp>
      <p:sp>
        <p:nvSpPr>
          <p:cNvPr id="24" name="Shape 19"/>
          <p:cNvSpPr/>
          <p:nvPr/>
        </p:nvSpPr>
        <p:spPr>
          <a:xfrm>
            <a:off x="8828837" y="3383280"/>
            <a:ext cx="345338" cy="0"/>
          </a:xfrm>
          <a:prstGeom prst="line">
            <a:avLst/>
          </a:prstGeom>
          <a:noFill/>
          <a:ln w="31750">
            <a:solidFill>
              <a:srgbClr val="E3A92B"/>
            </a:solidFill>
            <a:prstDash val="solid"/>
            <a:tailEnd type="triangle"/>
          </a:ln>
        </p:spPr>
      </p:sp>
      <p:sp>
        <p:nvSpPr>
          <p:cNvPr id="25" name="Shape 20"/>
          <p:cNvSpPr/>
          <p:nvPr/>
        </p:nvSpPr>
        <p:spPr>
          <a:xfrm>
            <a:off x="9265615" y="1920240"/>
            <a:ext cx="2377440" cy="2926080"/>
          </a:xfrm>
          <a:prstGeom prst="roundRect">
            <a:avLst>
              <a:gd name="adj" fmla="val 4615"/>
            </a:avLst>
          </a:prstGeom>
          <a:solidFill>
            <a:srgbClr val="F2F3F5"/>
          </a:solidFill>
          <a:ln w="12700">
            <a:solidFill>
              <a:srgbClr val="F2F3F5"/>
            </a:solidFill>
            <a:prstDash val="solid"/>
          </a:ln>
        </p:spPr>
      </p:sp>
      <p:sp>
        <p:nvSpPr>
          <p:cNvPr id="26" name="Shape 21"/>
          <p:cNvSpPr/>
          <p:nvPr/>
        </p:nvSpPr>
        <p:spPr>
          <a:xfrm>
            <a:off x="9494215" y="2148840"/>
            <a:ext cx="566928" cy="566928"/>
          </a:xfrm>
          <a:prstGeom prst="ellipse">
            <a:avLst/>
          </a:prstGeom>
          <a:solidFill>
            <a:srgbClr val="E3A92B"/>
          </a:solidFill>
          <a:ln w="12700">
            <a:solidFill>
              <a:srgbClr val="E3A92B"/>
            </a:solidFill>
            <a:prstDash val="solid"/>
          </a:ln>
        </p:spPr>
      </p:sp>
      <p:pic>
        <p:nvPicPr>
          <p:cNvPr id="27" name="Image 3" descr="preencoded.png">    </p:cNvPr>
          <p:cNvPicPr>
            <a:picLocks noChangeAspect="1"/>
          </p:cNvPicPr>
          <p:nvPr/>
        </p:nvPicPr>
        <p:blipFill>
          <a:blip r:embed="rId4"/>
          <a:stretch>
            <a:fillRect/>
          </a:stretch>
        </p:blipFill>
        <p:spPr>
          <a:xfrm>
            <a:off x="9635947" y="2290572"/>
            <a:ext cx="283464" cy="283464"/>
          </a:xfrm>
          <a:prstGeom prst="rect">
            <a:avLst/>
          </a:prstGeom>
        </p:spPr>
      </p:pic>
      <p:sp>
        <p:nvSpPr>
          <p:cNvPr id="28" name="Text 22"/>
          <p:cNvSpPr txBox="1"/>
          <p:nvPr/>
        </p:nvSpPr>
        <p:spPr>
          <a:xfrm>
            <a:off x="10198303" y="2148840"/>
            <a:ext cx="1371600" cy="566928"/>
          </a:xfrm>
          <a:prstGeom prst="rect">
            <a:avLst/>
          </a:prstGeom>
          <a:noFill/>
          <a:ln/>
        </p:spPr>
        <p:txBody>
          <a:bodyPr wrap="square" lIns="0" tIns="0" rIns="0" bIns="0" rtlCol="0" anchor="ctr"/>
          <a:lstStyle/>
          <a:p>
            <a:pPr indent="0" marL="0">
              <a:buNone/>
            </a:pPr>
            <a:r>
              <a:rPr lang="en-US" sz="1300" b="1" spc="100" kern="0" dirty="0">
                <a:solidFill>
                  <a:srgbClr val="8A5E00"/>
                </a:solidFill>
                <a:latin typeface="Calibri" pitchFamily="34" charset="0"/>
                <a:ea typeface="Calibri" pitchFamily="34" charset="-122"/>
                <a:cs typeface="Calibri" pitchFamily="34" charset="-120"/>
              </a:rPr>
              <a:t>4  ACTS</a:t>
            </a:r>
            <a:endParaRPr lang="en-US" sz="1300" dirty="0"/>
          </a:p>
        </p:txBody>
      </p:sp>
      <p:sp>
        <p:nvSpPr>
          <p:cNvPr id="29" name="Text 23"/>
          <p:cNvSpPr txBox="1"/>
          <p:nvPr/>
        </p:nvSpPr>
        <p:spPr>
          <a:xfrm>
            <a:off x="9494215" y="2880360"/>
            <a:ext cx="1965960" cy="384048"/>
          </a:xfrm>
          <a:prstGeom prst="rect">
            <a:avLst/>
          </a:prstGeom>
          <a:noFill/>
          <a:ln/>
        </p:spPr>
        <p:txBody>
          <a:bodyPr wrap="square" lIns="0" tIns="0" rIns="0" bIns="0" rtlCol="0" anchor="t"/>
          <a:lstStyle/>
          <a:p>
            <a:pPr indent="0" marL="0">
              <a:buNone/>
            </a:pPr>
            <a:r>
              <a:rPr lang="en-US" sz="1900" b="1" dirty="0">
                <a:solidFill>
                  <a:srgbClr val="161B22"/>
                </a:solidFill>
                <a:latin typeface="Calibri" pitchFamily="34" charset="0"/>
                <a:ea typeface="Calibri" pitchFamily="34" charset="-122"/>
                <a:cs typeface="Calibri" pitchFamily="34" charset="-120"/>
              </a:rPr>
              <a:t>Dashboard</a:t>
            </a:r>
            <a:endParaRPr lang="en-US" sz="1900" dirty="0"/>
          </a:p>
        </p:txBody>
      </p:sp>
      <p:sp>
        <p:nvSpPr>
          <p:cNvPr id="30" name="Text 24"/>
          <p:cNvSpPr txBox="1"/>
          <p:nvPr/>
        </p:nvSpPr>
        <p:spPr>
          <a:xfrm>
            <a:off x="9494215" y="3310128"/>
            <a:ext cx="1965960" cy="141732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People answer Yes / No; approved links are written to the table</a:t>
            </a:r>
            <a:endParaRPr lang="en-US" sz="1500" dirty="0"/>
          </a:p>
        </p:txBody>
      </p:sp>
      <p:sp>
        <p:nvSpPr>
          <p:cNvPr id="31" name="Shape 25"/>
          <p:cNvSpPr/>
          <p:nvPr/>
        </p:nvSpPr>
        <p:spPr>
          <a:xfrm>
            <a:off x="10454335" y="4919472"/>
            <a:ext cx="0" cy="475488"/>
          </a:xfrm>
          <a:prstGeom prst="line">
            <a:avLst/>
          </a:prstGeom>
          <a:noFill/>
          <a:ln w="31750">
            <a:solidFill>
              <a:srgbClr val="E3A92B"/>
            </a:solidFill>
            <a:prstDash val="solid"/>
          </a:ln>
        </p:spPr>
      </p:sp>
      <p:sp>
        <p:nvSpPr>
          <p:cNvPr id="32" name="Shape 26"/>
          <p:cNvSpPr/>
          <p:nvPr/>
        </p:nvSpPr>
        <p:spPr>
          <a:xfrm>
            <a:off x="7548677" y="5394960"/>
            <a:ext cx="2905658" cy="0"/>
          </a:xfrm>
          <a:prstGeom prst="line">
            <a:avLst/>
          </a:prstGeom>
          <a:noFill/>
          <a:ln w="31750">
            <a:solidFill>
              <a:srgbClr val="E3A92B"/>
            </a:solidFill>
            <a:prstDash val="solid"/>
          </a:ln>
        </p:spPr>
      </p:sp>
      <p:sp>
        <p:nvSpPr>
          <p:cNvPr id="33" name="Shape 27"/>
          <p:cNvSpPr/>
          <p:nvPr/>
        </p:nvSpPr>
        <p:spPr>
          <a:xfrm>
            <a:off x="7548677" y="4919472"/>
            <a:ext cx="0" cy="475488"/>
          </a:xfrm>
          <a:prstGeom prst="line">
            <a:avLst/>
          </a:prstGeom>
          <a:noFill/>
          <a:ln w="31750">
            <a:solidFill>
              <a:srgbClr val="E3A92B"/>
            </a:solidFill>
            <a:prstDash val="solid"/>
            <a:headEnd type="triangle"/>
          </a:ln>
        </p:spPr>
      </p:sp>
      <p:sp>
        <p:nvSpPr>
          <p:cNvPr id="34" name="Text 28"/>
          <p:cNvSpPr txBox="1"/>
          <p:nvPr/>
        </p:nvSpPr>
        <p:spPr>
          <a:xfrm>
            <a:off x="6451397" y="5532120"/>
            <a:ext cx="5100218" cy="365760"/>
          </a:xfrm>
          <a:prstGeom prst="rect">
            <a:avLst/>
          </a:prstGeom>
          <a:noFill/>
          <a:ln/>
        </p:spPr>
        <p:txBody>
          <a:bodyPr wrap="square" lIns="0" tIns="0" rIns="0" bIns="0" rtlCol="0" anchor="t"/>
          <a:lstStyle/>
          <a:p>
            <a:pPr algn="ctr" indent="0" marL="0">
              <a:buNone/>
            </a:pPr>
            <a:r>
              <a:rPr lang="en-US" sz="1500" b="1" i="1" dirty="0">
                <a:solidFill>
                  <a:srgbClr val="8A5E00"/>
                </a:solidFill>
                <a:latin typeface="Calibri" pitchFamily="34" charset="0"/>
                <a:ea typeface="Calibri" pitchFamily="34" charset="-122"/>
                <a:cs typeface="Calibri" pitchFamily="34" charset="-120"/>
              </a:rPr>
              <a:t>Every answer is saved and becomes evidence: Assay improves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t"/>
          <a:lstStyle/>
          <a:p>
            <a:pPr indent="0" marL="0">
              <a:buNone/>
            </a:pPr>
            <a:r>
              <a:rPr lang="en-US" sz="3600" b="1" dirty="0">
                <a:solidFill>
                  <a:srgbClr val="161B22"/>
                </a:solidFill>
                <a:latin typeface="Cambria" pitchFamily="34" charset="0"/>
                <a:ea typeface="Cambria" pitchFamily="34" charset="-122"/>
                <a:cs typeface="Cambria" pitchFamily="34" charset="-120"/>
              </a:rPr>
              <a:t>Built on Databricks</a:t>
            </a:r>
            <a:endParaRPr lang="en-US" sz="3600" dirty="0"/>
          </a:p>
        </p:txBody>
      </p:sp>
      <p:sp>
        <p:nvSpPr>
          <p:cNvPr id="3" name="Text 1"/>
          <p:cNvSpPr txBox="1"/>
          <p:nvPr/>
        </p:nvSpPr>
        <p:spPr>
          <a:xfrm>
            <a:off x="548640" y="1097280"/>
            <a:ext cx="11064240" cy="365760"/>
          </a:xfrm>
          <a:prstGeom prst="rect">
            <a:avLst/>
          </a:prstGeom>
          <a:noFill/>
          <a:ln/>
        </p:spPr>
        <p:txBody>
          <a:bodyPr wrap="square" lIns="0" tIns="0" rIns="0" bIns="0" rtlCol="0" anchor="t"/>
          <a:lstStyle/>
          <a:p>
            <a:pPr indent="0" marL="0">
              <a:buNone/>
            </a:pPr>
            <a:r>
              <a:rPr lang="en-US" sz="1700" dirty="0">
                <a:solidFill>
                  <a:srgbClr val="5B6675"/>
                </a:solidFill>
                <a:latin typeface="Calibri" pitchFamily="34" charset="0"/>
                <a:ea typeface="Calibri" pitchFamily="34" charset="-122"/>
                <a:cs typeface="Calibri" pitchFamily="34" charset="-120"/>
              </a:rPr>
              <a:t>Databricks is a data and AI platform: one governed place that stores our data, serves the AI models and hosts our app.</a:t>
            </a:r>
            <a:endParaRPr lang="en-US" sz="1700" dirty="0"/>
          </a:p>
        </p:txBody>
      </p:sp>
      <p:sp>
        <p:nvSpPr>
          <p:cNvPr id="4" name="Shape 2"/>
          <p:cNvSpPr/>
          <p:nvPr/>
        </p:nvSpPr>
        <p:spPr>
          <a:xfrm>
            <a:off x="548640" y="1691640"/>
            <a:ext cx="11091672" cy="1143000"/>
          </a:xfrm>
          <a:prstGeom prst="roundRect">
            <a:avLst>
              <a:gd name="adj" fmla="val 9600"/>
            </a:avLst>
          </a:prstGeom>
          <a:solidFill>
            <a:srgbClr val="161B22"/>
          </a:solidFill>
          <a:ln w="12700">
            <a:solidFill>
              <a:srgbClr val="161B22"/>
            </a:solidFill>
            <a:prstDash val="solid"/>
          </a:ln>
        </p:spPr>
      </p:sp>
      <p:sp>
        <p:nvSpPr>
          <p:cNvPr id="5" name="Text 3"/>
          <p:cNvSpPr txBox="1"/>
          <p:nvPr/>
        </p:nvSpPr>
        <p:spPr>
          <a:xfrm>
            <a:off x="868680" y="1847088"/>
            <a:ext cx="3657600" cy="274320"/>
          </a:xfrm>
          <a:prstGeom prst="rect">
            <a:avLst/>
          </a:prstGeom>
          <a:noFill/>
          <a:ln/>
        </p:spPr>
        <p:txBody>
          <a:bodyPr wrap="square" lIns="0" tIns="0" rIns="0" bIns="0" rtlCol="0" anchor="t"/>
          <a:lstStyle/>
          <a:p>
            <a:pPr indent="0" marL="0">
              <a:buNone/>
            </a:pPr>
            <a:r>
              <a:rPr lang="en-US" sz="1200" b="1" spc="200" kern="0" dirty="0">
                <a:solidFill>
                  <a:srgbClr val="E3A92B"/>
                </a:solidFill>
                <a:latin typeface="Calibri" pitchFamily="34" charset="0"/>
                <a:ea typeface="Calibri" pitchFamily="34" charset="-122"/>
                <a:cs typeface="Calibri" pitchFamily="34" charset="-120"/>
              </a:rPr>
              <a:t>THE CHALLENGE</a:t>
            </a:r>
            <a:endParaRPr lang="en-US" sz="1200" dirty="0"/>
          </a:p>
        </p:txBody>
      </p:sp>
      <p:sp>
        <p:nvSpPr>
          <p:cNvPr id="6" name="Text 4"/>
          <p:cNvSpPr txBox="1"/>
          <p:nvPr/>
        </p:nvSpPr>
        <p:spPr>
          <a:xfrm>
            <a:off x="868680" y="2148840"/>
            <a:ext cx="10469880" cy="594360"/>
          </a:xfrm>
          <a:prstGeom prst="rect">
            <a:avLst/>
          </a:prstGeom>
          <a:noFill/>
          <a:ln/>
        </p:spPr>
        <p:txBody>
          <a:bodyPr wrap="square" lIns="0" tIns="0" rIns="0" bIns="0" rtlCol="0" anchor="t"/>
          <a:lstStyle/>
          <a:p>
            <a:pPr indent="0" marL="0">
              <a:buNone/>
            </a:pPr>
            <a:r>
              <a:rPr lang="en-US" sz="1800" i="1" dirty="0">
                <a:solidFill>
                  <a:srgbClr val="F5F3EE"/>
                </a:solidFill>
                <a:latin typeface="Calibri" pitchFamily="34" charset="0"/>
                <a:ea typeface="Calibri" pitchFamily="34" charset="-122"/>
                <a:cs typeface="Calibri" pitchFamily="34" charset="-120"/>
              </a:rPr>
              <a:t>“Build an agent on Databricks that reads, decides, acts and improves when a human corrects it. Not a chatbot that talks about data.”</a:t>
            </a:r>
            <a:endParaRPr lang="en-US" sz="1800" dirty="0"/>
          </a:p>
        </p:txBody>
      </p:sp>
      <p:sp>
        <p:nvSpPr>
          <p:cNvPr id="7" name="Shape 5"/>
          <p:cNvSpPr/>
          <p:nvPr/>
        </p:nvSpPr>
        <p:spPr>
          <a:xfrm>
            <a:off x="548640" y="3063240"/>
            <a:ext cx="2560320" cy="2743200"/>
          </a:xfrm>
          <a:prstGeom prst="roundRect">
            <a:avLst>
              <a:gd name="adj" fmla="val 4286"/>
            </a:avLst>
          </a:prstGeom>
          <a:solidFill>
            <a:srgbClr val="F2F3F5"/>
          </a:solidFill>
          <a:ln w="12700">
            <a:solidFill>
              <a:srgbClr val="F2F3F5"/>
            </a:solidFill>
            <a:prstDash val="solid"/>
          </a:ln>
        </p:spPr>
      </p:sp>
      <p:sp>
        <p:nvSpPr>
          <p:cNvPr id="8" name="Shape 6"/>
          <p:cNvSpPr/>
          <p:nvPr/>
        </p:nvSpPr>
        <p:spPr>
          <a:xfrm>
            <a:off x="777240" y="3291840"/>
            <a:ext cx="566928" cy="566928"/>
          </a:xfrm>
          <a:prstGeom prst="ellipse">
            <a:avLst/>
          </a:prstGeom>
          <a:solidFill>
            <a:srgbClr val="E3A92B"/>
          </a:solidFill>
          <a:ln w="12700">
            <a:solidFill>
              <a:srgbClr val="E3A92B"/>
            </a:solidFill>
            <a:prstDash val="solid"/>
          </a:ln>
        </p:spPr>
      </p:sp>
      <p:pic>
        <p:nvPicPr>
          <p:cNvPr id="9" name="Image 0" descr="preencoded.png">    </p:cNvPr>
          <p:cNvPicPr>
            <a:picLocks noChangeAspect="1"/>
          </p:cNvPicPr>
          <p:nvPr/>
        </p:nvPicPr>
        <p:blipFill>
          <a:blip r:embed="rId1"/>
          <a:stretch>
            <a:fillRect/>
          </a:stretch>
        </p:blipFill>
        <p:spPr>
          <a:xfrm>
            <a:off x="918972" y="3433572"/>
            <a:ext cx="283464" cy="283464"/>
          </a:xfrm>
          <a:prstGeom prst="rect">
            <a:avLst/>
          </a:prstGeom>
        </p:spPr>
      </p:pic>
      <p:sp>
        <p:nvSpPr>
          <p:cNvPr id="10" name="Text 7"/>
          <p:cNvSpPr txBox="1"/>
          <p:nvPr/>
        </p:nvSpPr>
        <p:spPr>
          <a:xfrm>
            <a:off x="1481328" y="3291840"/>
            <a:ext cx="1463040" cy="566928"/>
          </a:xfrm>
          <a:prstGeom prst="rect">
            <a:avLst/>
          </a:prstGeom>
          <a:noFill/>
          <a:ln/>
        </p:spPr>
        <p:txBody>
          <a:bodyPr wrap="square" lIns="0" tIns="0" rIns="0" bIns="0" rtlCol="0" anchor="ctr"/>
          <a:lstStyle/>
          <a:p>
            <a:pPr indent="0" marL="0">
              <a:buNone/>
            </a:pPr>
            <a:r>
              <a:rPr lang="en-US" sz="2100" b="1" dirty="0">
                <a:solidFill>
                  <a:srgbClr val="161B22"/>
                </a:solidFill>
                <a:latin typeface="Calibri" pitchFamily="34" charset="0"/>
                <a:ea typeface="Calibri" pitchFamily="34" charset="-122"/>
                <a:cs typeface="Calibri" pitchFamily="34" charset="-120"/>
              </a:rPr>
              <a:t>Reads</a:t>
            </a:r>
            <a:endParaRPr lang="en-US" sz="2100" dirty="0"/>
          </a:p>
        </p:txBody>
      </p:sp>
      <p:sp>
        <p:nvSpPr>
          <p:cNvPr id="11" name="Text 8"/>
          <p:cNvSpPr txBox="1"/>
          <p:nvPr/>
        </p:nvSpPr>
        <p:spPr>
          <a:xfrm>
            <a:off x="777240" y="4041648"/>
            <a:ext cx="2148840" cy="11430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37,853 Jira tickets and every result live in governed tables.</a:t>
            </a:r>
            <a:endParaRPr lang="en-US" sz="1400" dirty="0"/>
          </a:p>
        </p:txBody>
      </p:sp>
      <p:sp>
        <p:nvSpPr>
          <p:cNvPr id="12" name="Text 9"/>
          <p:cNvSpPr txBox="1"/>
          <p:nvPr/>
        </p:nvSpPr>
        <p:spPr>
          <a:xfrm>
            <a:off x="777240" y="5166360"/>
            <a:ext cx="2148840" cy="228600"/>
          </a:xfrm>
          <a:prstGeom prst="rect">
            <a:avLst/>
          </a:prstGeom>
          <a:noFill/>
          <a:ln/>
        </p:spPr>
        <p:txBody>
          <a:bodyPr wrap="square" lIns="0" tIns="0" rIns="0" bIns="0" rtlCol="0" anchor="t"/>
          <a:lstStyle/>
          <a:p>
            <a:pPr indent="0" marL="0">
              <a:buNone/>
            </a:pPr>
            <a:r>
              <a:rPr lang="en-US" sz="1000" b="1" spc="150" kern="0" dirty="0">
                <a:solidFill>
                  <a:srgbClr val="5B6675"/>
                </a:solidFill>
                <a:latin typeface="Calibri" pitchFamily="34" charset="0"/>
                <a:ea typeface="Calibri" pitchFamily="34" charset="-122"/>
                <a:cs typeface="Calibri" pitchFamily="34" charset="-120"/>
              </a:rPr>
              <a:t>ON DATABRICKS</a:t>
            </a:r>
            <a:endParaRPr lang="en-US" sz="1000" dirty="0"/>
          </a:p>
        </p:txBody>
      </p:sp>
      <p:sp>
        <p:nvSpPr>
          <p:cNvPr id="13" name="Text 10"/>
          <p:cNvSpPr txBox="1"/>
          <p:nvPr/>
        </p:nvSpPr>
        <p:spPr>
          <a:xfrm>
            <a:off x="777240" y="5394960"/>
            <a:ext cx="2148840" cy="320040"/>
          </a:xfrm>
          <a:prstGeom prst="rect">
            <a:avLst/>
          </a:prstGeom>
          <a:noFill/>
          <a:ln/>
        </p:spPr>
        <p:txBody>
          <a:bodyPr wrap="square" lIns="0" tIns="0" rIns="0" bIns="0" rtlCol="0" anchor="t"/>
          <a:lstStyle/>
          <a:p>
            <a:pPr indent="0" marL="0">
              <a:buNone/>
            </a:pPr>
            <a:r>
              <a:rPr lang="en-US" sz="1400" b="1" dirty="0">
                <a:solidFill>
                  <a:srgbClr val="8A5E00"/>
                </a:solidFill>
                <a:latin typeface="Calibri" pitchFamily="34" charset="0"/>
                <a:ea typeface="Calibri" pitchFamily="34" charset="-122"/>
                <a:cs typeface="Calibri" pitchFamily="34" charset="-120"/>
              </a:rPr>
              <a:t>Unity Catalog · Delta</a:t>
            </a:r>
            <a:endParaRPr lang="en-US" sz="1400" dirty="0"/>
          </a:p>
        </p:txBody>
      </p:sp>
      <p:sp>
        <p:nvSpPr>
          <p:cNvPr id="14" name="Shape 11"/>
          <p:cNvSpPr/>
          <p:nvPr/>
        </p:nvSpPr>
        <p:spPr>
          <a:xfrm>
            <a:off x="3393338" y="3063240"/>
            <a:ext cx="2560320" cy="2743200"/>
          </a:xfrm>
          <a:prstGeom prst="roundRect">
            <a:avLst>
              <a:gd name="adj" fmla="val 4286"/>
            </a:avLst>
          </a:prstGeom>
          <a:solidFill>
            <a:srgbClr val="F2F3F5"/>
          </a:solidFill>
          <a:ln w="12700">
            <a:solidFill>
              <a:srgbClr val="F2F3F5"/>
            </a:solidFill>
            <a:prstDash val="solid"/>
          </a:ln>
        </p:spPr>
      </p:sp>
      <p:sp>
        <p:nvSpPr>
          <p:cNvPr id="15" name="Shape 12"/>
          <p:cNvSpPr/>
          <p:nvPr/>
        </p:nvSpPr>
        <p:spPr>
          <a:xfrm>
            <a:off x="3621938" y="3291840"/>
            <a:ext cx="566928" cy="566928"/>
          </a:xfrm>
          <a:prstGeom prst="ellipse">
            <a:avLst/>
          </a:prstGeom>
          <a:solidFill>
            <a:srgbClr val="E3A92B"/>
          </a:solidFill>
          <a:ln w="12700">
            <a:solidFill>
              <a:srgbClr val="E3A92B"/>
            </a:solidFill>
            <a:prstDash val="solid"/>
          </a:ln>
        </p:spPr>
      </p:sp>
      <p:pic>
        <p:nvPicPr>
          <p:cNvPr id="16" name="Image 1" descr="preencoded.png">    </p:cNvPr>
          <p:cNvPicPr>
            <a:picLocks noChangeAspect="1"/>
          </p:cNvPicPr>
          <p:nvPr/>
        </p:nvPicPr>
        <p:blipFill>
          <a:blip r:embed="rId2"/>
          <a:stretch>
            <a:fillRect/>
          </a:stretch>
        </p:blipFill>
        <p:spPr>
          <a:xfrm>
            <a:off x="3763670" y="3433572"/>
            <a:ext cx="283464" cy="283464"/>
          </a:xfrm>
          <a:prstGeom prst="rect">
            <a:avLst/>
          </a:prstGeom>
        </p:spPr>
      </p:pic>
      <p:sp>
        <p:nvSpPr>
          <p:cNvPr id="17" name="Text 13"/>
          <p:cNvSpPr txBox="1"/>
          <p:nvPr/>
        </p:nvSpPr>
        <p:spPr>
          <a:xfrm>
            <a:off x="4326026" y="3291840"/>
            <a:ext cx="1463040" cy="566928"/>
          </a:xfrm>
          <a:prstGeom prst="rect">
            <a:avLst/>
          </a:prstGeom>
          <a:noFill/>
          <a:ln/>
        </p:spPr>
        <p:txBody>
          <a:bodyPr wrap="square" lIns="0" tIns="0" rIns="0" bIns="0" rtlCol="0" anchor="ctr"/>
          <a:lstStyle/>
          <a:p>
            <a:pPr indent="0" marL="0">
              <a:buNone/>
            </a:pPr>
            <a:r>
              <a:rPr lang="en-US" sz="2100" b="1" dirty="0">
                <a:solidFill>
                  <a:srgbClr val="161B22"/>
                </a:solidFill>
                <a:latin typeface="Calibri" pitchFamily="34" charset="0"/>
                <a:ea typeface="Calibri" pitchFamily="34" charset="-122"/>
                <a:cs typeface="Calibri" pitchFamily="34" charset="-120"/>
              </a:rPr>
              <a:t>Decides</a:t>
            </a:r>
            <a:endParaRPr lang="en-US" sz="2100" dirty="0"/>
          </a:p>
        </p:txBody>
      </p:sp>
      <p:sp>
        <p:nvSpPr>
          <p:cNvPr id="18" name="Text 14"/>
          <p:cNvSpPr txBox="1"/>
          <p:nvPr/>
        </p:nvSpPr>
        <p:spPr>
          <a:xfrm>
            <a:off x="3621938" y="4041648"/>
            <a:ext cx="2148840" cy="11430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Llama 3.3 70B judges each ticket. If it’s busy, Assay switches to a backup model live.</a:t>
            </a:r>
            <a:endParaRPr lang="en-US" sz="1400" dirty="0"/>
          </a:p>
        </p:txBody>
      </p:sp>
      <p:sp>
        <p:nvSpPr>
          <p:cNvPr id="19" name="Text 15"/>
          <p:cNvSpPr txBox="1"/>
          <p:nvPr/>
        </p:nvSpPr>
        <p:spPr>
          <a:xfrm>
            <a:off x="3621938" y="5166360"/>
            <a:ext cx="2148840" cy="228600"/>
          </a:xfrm>
          <a:prstGeom prst="rect">
            <a:avLst/>
          </a:prstGeom>
          <a:noFill/>
          <a:ln/>
        </p:spPr>
        <p:txBody>
          <a:bodyPr wrap="square" lIns="0" tIns="0" rIns="0" bIns="0" rtlCol="0" anchor="t"/>
          <a:lstStyle/>
          <a:p>
            <a:pPr indent="0" marL="0">
              <a:buNone/>
            </a:pPr>
            <a:r>
              <a:rPr lang="en-US" sz="1000" b="1" spc="150" kern="0" dirty="0">
                <a:solidFill>
                  <a:srgbClr val="5B6675"/>
                </a:solidFill>
                <a:latin typeface="Calibri" pitchFamily="34" charset="0"/>
                <a:ea typeface="Calibri" pitchFamily="34" charset="-122"/>
                <a:cs typeface="Calibri" pitchFamily="34" charset="-120"/>
              </a:rPr>
              <a:t>ON DATABRICKS</a:t>
            </a:r>
            <a:endParaRPr lang="en-US" sz="1000" dirty="0"/>
          </a:p>
        </p:txBody>
      </p:sp>
      <p:sp>
        <p:nvSpPr>
          <p:cNvPr id="20" name="Text 16"/>
          <p:cNvSpPr txBox="1"/>
          <p:nvPr/>
        </p:nvSpPr>
        <p:spPr>
          <a:xfrm>
            <a:off x="3621938" y="5394960"/>
            <a:ext cx="2148840" cy="320040"/>
          </a:xfrm>
          <a:prstGeom prst="rect">
            <a:avLst/>
          </a:prstGeom>
          <a:noFill/>
          <a:ln/>
        </p:spPr>
        <p:txBody>
          <a:bodyPr wrap="square" lIns="0" tIns="0" rIns="0" bIns="0" rtlCol="0" anchor="t"/>
          <a:lstStyle/>
          <a:p>
            <a:pPr indent="0" marL="0">
              <a:buNone/>
            </a:pPr>
            <a:r>
              <a:rPr lang="en-US" sz="1400" b="1" dirty="0">
                <a:solidFill>
                  <a:srgbClr val="8A5E00"/>
                </a:solidFill>
                <a:latin typeface="Calibri" pitchFamily="34" charset="0"/>
                <a:ea typeface="Calibri" pitchFamily="34" charset="-122"/>
                <a:cs typeface="Calibri" pitchFamily="34" charset="-120"/>
              </a:rPr>
              <a:t>Foundation Model APIs</a:t>
            </a:r>
            <a:endParaRPr lang="en-US" sz="1400" dirty="0"/>
          </a:p>
        </p:txBody>
      </p:sp>
      <p:sp>
        <p:nvSpPr>
          <p:cNvPr id="21" name="Shape 17"/>
          <p:cNvSpPr/>
          <p:nvPr/>
        </p:nvSpPr>
        <p:spPr>
          <a:xfrm>
            <a:off x="6238037" y="3063240"/>
            <a:ext cx="2560320" cy="2743200"/>
          </a:xfrm>
          <a:prstGeom prst="roundRect">
            <a:avLst>
              <a:gd name="adj" fmla="val 4286"/>
            </a:avLst>
          </a:prstGeom>
          <a:solidFill>
            <a:srgbClr val="F2F3F5"/>
          </a:solidFill>
          <a:ln w="12700">
            <a:solidFill>
              <a:srgbClr val="F2F3F5"/>
            </a:solidFill>
            <a:prstDash val="solid"/>
          </a:ln>
        </p:spPr>
      </p:sp>
      <p:sp>
        <p:nvSpPr>
          <p:cNvPr id="22" name="Shape 18"/>
          <p:cNvSpPr/>
          <p:nvPr/>
        </p:nvSpPr>
        <p:spPr>
          <a:xfrm>
            <a:off x="6466637" y="3291840"/>
            <a:ext cx="566928" cy="566928"/>
          </a:xfrm>
          <a:prstGeom prst="ellipse">
            <a:avLst/>
          </a:prstGeom>
          <a:solidFill>
            <a:srgbClr val="E3A92B"/>
          </a:solidFill>
          <a:ln w="12700">
            <a:solidFill>
              <a:srgbClr val="E3A92B"/>
            </a:solidFill>
            <a:prstDash val="solid"/>
          </a:ln>
        </p:spPr>
      </p:sp>
      <p:pic>
        <p:nvPicPr>
          <p:cNvPr id="23" name="Image 2" descr="preencoded.png">    </p:cNvPr>
          <p:cNvPicPr>
            <a:picLocks noChangeAspect="1"/>
          </p:cNvPicPr>
          <p:nvPr/>
        </p:nvPicPr>
        <p:blipFill>
          <a:blip r:embed="rId3"/>
          <a:stretch>
            <a:fillRect/>
          </a:stretch>
        </p:blipFill>
        <p:spPr>
          <a:xfrm>
            <a:off x="6608369" y="3433572"/>
            <a:ext cx="283464" cy="283464"/>
          </a:xfrm>
          <a:prstGeom prst="rect">
            <a:avLst/>
          </a:prstGeom>
        </p:spPr>
      </p:pic>
      <p:sp>
        <p:nvSpPr>
          <p:cNvPr id="24" name="Text 19"/>
          <p:cNvSpPr txBox="1"/>
          <p:nvPr/>
        </p:nvSpPr>
        <p:spPr>
          <a:xfrm>
            <a:off x="7170725" y="3291840"/>
            <a:ext cx="1463040" cy="566928"/>
          </a:xfrm>
          <a:prstGeom prst="rect">
            <a:avLst/>
          </a:prstGeom>
          <a:noFill/>
          <a:ln/>
        </p:spPr>
        <p:txBody>
          <a:bodyPr wrap="square" lIns="0" tIns="0" rIns="0" bIns="0" rtlCol="0" anchor="ctr"/>
          <a:lstStyle/>
          <a:p>
            <a:pPr indent="0" marL="0">
              <a:buNone/>
            </a:pPr>
            <a:r>
              <a:rPr lang="en-US" sz="2100" b="1" dirty="0">
                <a:solidFill>
                  <a:srgbClr val="161B22"/>
                </a:solidFill>
                <a:latin typeface="Calibri" pitchFamily="34" charset="0"/>
                <a:ea typeface="Calibri" pitchFamily="34" charset="-122"/>
                <a:cs typeface="Calibri" pitchFamily="34" charset="-120"/>
              </a:rPr>
              <a:t>Acts</a:t>
            </a:r>
            <a:endParaRPr lang="en-US" sz="2100" dirty="0"/>
          </a:p>
        </p:txBody>
      </p:sp>
      <p:sp>
        <p:nvSpPr>
          <p:cNvPr id="25" name="Text 20"/>
          <p:cNvSpPr txBox="1"/>
          <p:nvPr/>
        </p:nvSpPr>
        <p:spPr>
          <a:xfrm>
            <a:off x="6466637" y="4041648"/>
            <a:ext cx="2148840" cy="11430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dashboard runs as a Databricks App and writes each approved link to a table.</a:t>
            </a:r>
            <a:endParaRPr lang="en-US" sz="1400" dirty="0"/>
          </a:p>
        </p:txBody>
      </p:sp>
      <p:sp>
        <p:nvSpPr>
          <p:cNvPr id="26" name="Text 21"/>
          <p:cNvSpPr txBox="1"/>
          <p:nvPr/>
        </p:nvSpPr>
        <p:spPr>
          <a:xfrm>
            <a:off x="6466637" y="5166360"/>
            <a:ext cx="2148840" cy="228600"/>
          </a:xfrm>
          <a:prstGeom prst="rect">
            <a:avLst/>
          </a:prstGeom>
          <a:noFill/>
          <a:ln/>
        </p:spPr>
        <p:txBody>
          <a:bodyPr wrap="square" lIns="0" tIns="0" rIns="0" bIns="0" rtlCol="0" anchor="t"/>
          <a:lstStyle/>
          <a:p>
            <a:pPr indent="0" marL="0">
              <a:buNone/>
            </a:pPr>
            <a:r>
              <a:rPr lang="en-US" sz="1000" b="1" spc="150" kern="0" dirty="0">
                <a:solidFill>
                  <a:srgbClr val="5B6675"/>
                </a:solidFill>
                <a:latin typeface="Calibri" pitchFamily="34" charset="0"/>
                <a:ea typeface="Calibri" pitchFamily="34" charset="-122"/>
                <a:cs typeface="Calibri" pitchFamily="34" charset="-120"/>
              </a:rPr>
              <a:t>ON DATABRICKS</a:t>
            </a:r>
            <a:endParaRPr lang="en-US" sz="1000" dirty="0"/>
          </a:p>
        </p:txBody>
      </p:sp>
      <p:sp>
        <p:nvSpPr>
          <p:cNvPr id="27" name="Text 22"/>
          <p:cNvSpPr txBox="1"/>
          <p:nvPr/>
        </p:nvSpPr>
        <p:spPr>
          <a:xfrm>
            <a:off x="6466637" y="5394960"/>
            <a:ext cx="2148840" cy="320040"/>
          </a:xfrm>
          <a:prstGeom prst="rect">
            <a:avLst/>
          </a:prstGeom>
          <a:noFill/>
          <a:ln/>
        </p:spPr>
        <p:txBody>
          <a:bodyPr wrap="square" lIns="0" tIns="0" rIns="0" bIns="0" rtlCol="0" anchor="t"/>
          <a:lstStyle/>
          <a:p>
            <a:pPr indent="0" marL="0">
              <a:buNone/>
            </a:pPr>
            <a:r>
              <a:rPr lang="en-US" sz="1400" b="1" dirty="0">
                <a:solidFill>
                  <a:srgbClr val="8A5E00"/>
                </a:solidFill>
                <a:latin typeface="Calibri" pitchFamily="34" charset="0"/>
                <a:ea typeface="Calibri" pitchFamily="34" charset="-122"/>
                <a:cs typeface="Calibri" pitchFamily="34" charset="-120"/>
              </a:rPr>
              <a:t>Databricks Apps · SQL</a:t>
            </a:r>
            <a:endParaRPr lang="en-US" sz="1400" dirty="0"/>
          </a:p>
        </p:txBody>
      </p:sp>
      <p:sp>
        <p:nvSpPr>
          <p:cNvPr id="28" name="Shape 23"/>
          <p:cNvSpPr/>
          <p:nvPr/>
        </p:nvSpPr>
        <p:spPr>
          <a:xfrm>
            <a:off x="9082735" y="3063240"/>
            <a:ext cx="2560320" cy="2743200"/>
          </a:xfrm>
          <a:prstGeom prst="roundRect">
            <a:avLst>
              <a:gd name="adj" fmla="val 4286"/>
            </a:avLst>
          </a:prstGeom>
          <a:solidFill>
            <a:srgbClr val="F2F3F5"/>
          </a:solidFill>
          <a:ln w="12700">
            <a:solidFill>
              <a:srgbClr val="F2F3F5"/>
            </a:solidFill>
            <a:prstDash val="solid"/>
          </a:ln>
        </p:spPr>
      </p:sp>
      <p:sp>
        <p:nvSpPr>
          <p:cNvPr id="29" name="Shape 24"/>
          <p:cNvSpPr/>
          <p:nvPr/>
        </p:nvSpPr>
        <p:spPr>
          <a:xfrm>
            <a:off x="9311335" y="3291840"/>
            <a:ext cx="566928" cy="566928"/>
          </a:xfrm>
          <a:prstGeom prst="ellipse">
            <a:avLst/>
          </a:prstGeom>
          <a:solidFill>
            <a:srgbClr val="E3A92B"/>
          </a:solidFill>
          <a:ln w="12700">
            <a:solidFill>
              <a:srgbClr val="E3A92B"/>
            </a:solidFill>
            <a:prstDash val="solid"/>
          </a:ln>
        </p:spPr>
      </p:sp>
      <p:pic>
        <p:nvPicPr>
          <p:cNvPr id="30" name="Image 3" descr="preencoded.png">    </p:cNvPr>
          <p:cNvPicPr>
            <a:picLocks noChangeAspect="1"/>
          </p:cNvPicPr>
          <p:nvPr/>
        </p:nvPicPr>
        <p:blipFill>
          <a:blip r:embed="rId4"/>
          <a:stretch>
            <a:fillRect/>
          </a:stretch>
        </p:blipFill>
        <p:spPr>
          <a:xfrm>
            <a:off x="9453067" y="3433572"/>
            <a:ext cx="283464" cy="283464"/>
          </a:xfrm>
          <a:prstGeom prst="rect">
            <a:avLst/>
          </a:prstGeom>
        </p:spPr>
      </p:pic>
      <p:sp>
        <p:nvSpPr>
          <p:cNvPr id="31" name="Text 25"/>
          <p:cNvSpPr txBox="1"/>
          <p:nvPr/>
        </p:nvSpPr>
        <p:spPr>
          <a:xfrm>
            <a:off x="10015423" y="3291840"/>
            <a:ext cx="1463040" cy="566928"/>
          </a:xfrm>
          <a:prstGeom prst="rect">
            <a:avLst/>
          </a:prstGeom>
          <a:noFill/>
          <a:ln/>
        </p:spPr>
        <p:txBody>
          <a:bodyPr wrap="square" lIns="0" tIns="0" rIns="0" bIns="0" rtlCol="0" anchor="ctr"/>
          <a:lstStyle/>
          <a:p>
            <a:pPr indent="0" marL="0">
              <a:buNone/>
            </a:pPr>
            <a:r>
              <a:rPr lang="en-US" sz="2100" b="1" dirty="0">
                <a:solidFill>
                  <a:srgbClr val="161B22"/>
                </a:solidFill>
                <a:latin typeface="Calibri" pitchFamily="34" charset="0"/>
                <a:ea typeface="Calibri" pitchFamily="34" charset="-122"/>
                <a:cs typeface="Calibri" pitchFamily="34" charset="-120"/>
              </a:rPr>
              <a:t>Improves</a:t>
            </a:r>
            <a:endParaRPr lang="en-US" sz="2100" dirty="0"/>
          </a:p>
        </p:txBody>
      </p:sp>
      <p:sp>
        <p:nvSpPr>
          <p:cNvPr id="32" name="Text 26"/>
          <p:cNvSpPr txBox="1"/>
          <p:nvPr/>
        </p:nvSpPr>
        <p:spPr>
          <a:xfrm>
            <a:off x="9311335" y="4041648"/>
            <a:ext cx="2148840" cy="11430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Every Yes / No is saved and reused. A bad correction was tested and blocked: broke 16, fixed 0.</a:t>
            </a:r>
            <a:endParaRPr lang="en-US" sz="1400" dirty="0"/>
          </a:p>
        </p:txBody>
      </p:sp>
      <p:sp>
        <p:nvSpPr>
          <p:cNvPr id="33" name="Text 27"/>
          <p:cNvSpPr txBox="1"/>
          <p:nvPr/>
        </p:nvSpPr>
        <p:spPr>
          <a:xfrm>
            <a:off x="9311335" y="5166360"/>
            <a:ext cx="2148840" cy="228600"/>
          </a:xfrm>
          <a:prstGeom prst="rect">
            <a:avLst/>
          </a:prstGeom>
          <a:noFill/>
          <a:ln/>
        </p:spPr>
        <p:txBody>
          <a:bodyPr wrap="square" lIns="0" tIns="0" rIns="0" bIns="0" rtlCol="0" anchor="t"/>
          <a:lstStyle/>
          <a:p>
            <a:pPr indent="0" marL="0">
              <a:buNone/>
            </a:pPr>
            <a:r>
              <a:rPr lang="en-US" sz="1000" b="1" spc="150" kern="0" dirty="0">
                <a:solidFill>
                  <a:srgbClr val="5B6675"/>
                </a:solidFill>
                <a:latin typeface="Calibri" pitchFamily="34" charset="0"/>
                <a:ea typeface="Calibri" pitchFamily="34" charset="-122"/>
                <a:cs typeface="Calibri" pitchFamily="34" charset="-120"/>
              </a:rPr>
              <a:t>ON DATABRICKS</a:t>
            </a:r>
            <a:endParaRPr lang="en-US" sz="1000" dirty="0"/>
          </a:p>
        </p:txBody>
      </p:sp>
      <p:sp>
        <p:nvSpPr>
          <p:cNvPr id="34" name="Text 28"/>
          <p:cNvSpPr txBox="1"/>
          <p:nvPr/>
        </p:nvSpPr>
        <p:spPr>
          <a:xfrm>
            <a:off x="9311335" y="5394960"/>
            <a:ext cx="2148840" cy="320040"/>
          </a:xfrm>
          <a:prstGeom prst="rect">
            <a:avLst/>
          </a:prstGeom>
          <a:noFill/>
          <a:ln/>
        </p:spPr>
        <p:txBody>
          <a:bodyPr wrap="square" lIns="0" tIns="0" rIns="0" bIns="0" rtlCol="0" anchor="t"/>
          <a:lstStyle/>
          <a:p>
            <a:pPr indent="0" marL="0">
              <a:buNone/>
            </a:pPr>
            <a:r>
              <a:rPr lang="en-US" sz="1400" b="1" dirty="0">
                <a:solidFill>
                  <a:srgbClr val="8A5E00"/>
                </a:solidFill>
                <a:latin typeface="Calibri" pitchFamily="34" charset="0"/>
                <a:ea typeface="Calibri" pitchFamily="34" charset="-122"/>
                <a:cs typeface="Calibri" pitchFamily="34" charset="-120"/>
              </a:rPr>
              <a:t>Delta + Assay’s test</a:t>
            </a:r>
            <a:endParaRPr lang="en-US" sz="1400" dirty="0"/>
          </a:p>
        </p:txBody>
      </p:sp>
      <p:sp>
        <p:nvSpPr>
          <p:cNvPr id="35" name="Text 29"/>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500" b="1" dirty="0">
                <a:solidFill>
                  <a:srgbClr val="161B22"/>
                </a:solidFill>
                <a:latin typeface="Calibri" pitchFamily="34" charset="0"/>
                <a:ea typeface="Calibri" pitchFamily="34" charset="-122"/>
                <a:cs typeface="Calibri" pitchFamily="34" charset="-120"/>
              </a:rPr>
              <a:t>$0 AI bill: </a:t>
            </a:r>
            <a:pPr indent="0" marL="0">
              <a:buNone/>
            </a:pPr>
            <a:r>
              <a:rPr lang="en-US" sz="1500" dirty="0">
                <a:solidFill>
                  <a:srgbClr val="5B6675"/>
                </a:solidFill>
                <a:latin typeface="Calibri" pitchFamily="34" charset="0"/>
                <a:ea typeface="Calibri" pitchFamily="34" charset="-122"/>
                <a:cs typeface="Calibri" pitchFamily="34" charset="-120"/>
              </a:rPr>
              <a:t>everything runs on Databricks Free Edition.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731520" y="548640"/>
            <a:ext cx="7315200" cy="777240"/>
          </a:xfrm>
          <a:prstGeom prst="rect">
            <a:avLst/>
          </a:prstGeom>
          <a:noFill/>
          <a:ln/>
        </p:spPr>
        <p:txBody>
          <a:bodyPr wrap="square" lIns="0" tIns="0" rIns="0" bIns="0" rtlCol="0" anchor="t"/>
          <a:lstStyle/>
          <a:p>
            <a:pPr indent="0" marL="0">
              <a:buNone/>
            </a:pPr>
            <a:r>
              <a:rPr lang="en-US" sz="4400" b="1" dirty="0">
                <a:solidFill>
                  <a:srgbClr val="F5F3EE"/>
                </a:solidFill>
                <a:latin typeface="Cambria" pitchFamily="34" charset="0"/>
                <a:ea typeface="Cambria" pitchFamily="34" charset="-122"/>
                <a:cs typeface="Cambria" pitchFamily="34" charset="-120"/>
              </a:rPr>
              <a:t>Live demo</a:t>
            </a:r>
            <a:endParaRPr lang="en-US" sz="4400" dirty="0"/>
          </a:p>
        </p:txBody>
      </p:sp>
      <p:sp>
        <p:nvSpPr>
          <p:cNvPr id="3" name="Text 1"/>
          <p:cNvSpPr txBox="1"/>
          <p:nvPr/>
        </p:nvSpPr>
        <p:spPr>
          <a:xfrm>
            <a:off x="731520" y="1325880"/>
            <a:ext cx="7772400" cy="365760"/>
          </a:xfrm>
          <a:prstGeom prst="rect">
            <a:avLst/>
          </a:prstGeom>
          <a:noFill/>
          <a:ln/>
        </p:spPr>
        <p:txBody>
          <a:bodyPr wrap="square" lIns="0" tIns="0" rIns="0" bIns="0" rtlCol="0" anchor="t"/>
          <a:lstStyle/>
          <a:p>
            <a:pPr indent="0" marL="0">
              <a:buNone/>
            </a:pPr>
            <a:r>
              <a:rPr lang="en-US" sz="1700" dirty="0">
                <a:solidFill>
                  <a:srgbClr val="AEB6C1"/>
                </a:solidFill>
                <a:latin typeface="Calibri" pitchFamily="34" charset="0"/>
                <a:ea typeface="Calibri" pitchFamily="34" charset="-122"/>
                <a:cs typeface="Calibri" pitchFamily="34" charset="-120"/>
              </a:rPr>
              <a:t>The real app on Databricks. Every answer we give is saved.</a:t>
            </a:r>
            <a:endParaRPr lang="en-US" sz="1700" dirty="0"/>
          </a:p>
        </p:txBody>
      </p:sp>
      <p:sp>
        <p:nvSpPr>
          <p:cNvPr id="4" name="Shape 2"/>
          <p:cNvSpPr/>
          <p:nvPr/>
        </p:nvSpPr>
        <p:spPr>
          <a:xfrm>
            <a:off x="731520" y="1920240"/>
            <a:ext cx="7680960" cy="1051560"/>
          </a:xfrm>
          <a:prstGeom prst="roundRect">
            <a:avLst>
              <a:gd name="adj" fmla="val 10435"/>
            </a:avLst>
          </a:prstGeom>
          <a:solidFill>
            <a:srgbClr val="FFFFFF"/>
          </a:solidFill>
          <a:ln w="12700">
            <a:solidFill>
              <a:srgbClr val="FFFFFF"/>
            </a:solidFill>
            <a:prstDash val="solid"/>
          </a:ln>
        </p:spPr>
      </p:sp>
      <p:sp>
        <p:nvSpPr>
          <p:cNvPr id="5" name="Text 3"/>
          <p:cNvSpPr txBox="1"/>
          <p:nvPr/>
        </p:nvSpPr>
        <p:spPr>
          <a:xfrm>
            <a:off x="1005840" y="2075688"/>
            <a:ext cx="5486400" cy="256032"/>
          </a:xfrm>
          <a:prstGeom prst="rect">
            <a:avLst/>
          </a:prstGeom>
          <a:noFill/>
          <a:ln/>
        </p:spPr>
        <p:txBody>
          <a:bodyPr wrap="square" lIns="0" tIns="0" rIns="0" bIns="0" rtlCol="0" anchor="t"/>
          <a:lstStyle/>
          <a:p>
            <a:pPr indent="0" marL="0">
              <a:buNone/>
            </a:pPr>
            <a:r>
              <a:rPr lang="en-US" sz="1100" b="1" spc="200" kern="0" dirty="0">
                <a:solidFill>
                  <a:srgbClr val="5B6675"/>
                </a:solidFill>
                <a:latin typeface="Calibri" pitchFamily="34" charset="0"/>
                <a:ea typeface="Calibri" pitchFamily="34" charset="-122"/>
                <a:cs typeface="Calibri" pitchFamily="34" charset="-120"/>
              </a:rPr>
              <a:t>OPEN THE DASHBOARD</a:t>
            </a:r>
            <a:endParaRPr lang="en-US" sz="1100" dirty="0"/>
          </a:p>
        </p:txBody>
      </p:sp>
      <p:sp>
        <p:nvSpPr>
          <p:cNvPr id="6" name="Text 4"/>
          <p:cNvSpPr txBox="1"/>
          <p:nvPr/>
        </p:nvSpPr>
        <p:spPr>
          <a:xfrm>
            <a:off x="1005840" y="2377440"/>
            <a:ext cx="7223760" cy="411480"/>
          </a:xfrm>
          <a:prstGeom prst="rect">
            <a:avLst/>
          </a:prstGeom>
          <a:noFill/>
          <a:ln/>
        </p:spPr>
        <p:txBody>
          <a:bodyPr wrap="square" lIns="0" tIns="0" rIns="0" bIns="0" rtlCol="0" anchor="t"/>
          <a:lstStyle/>
          <a:p>
            <a:pPr indent="0" marL="0">
              <a:buNone/>
            </a:pPr>
            <a:r>
              <a:rPr lang="en-US" sz="1900" b="1" u="sng" dirty="0">
                <a:solidFill>
                  <a:srgbClr val="161B22"/>
                </a:solidFill>
                <a:latin typeface="Calibri" pitchFamily="34" charset="0"/>
                <a:ea typeface="Calibri" pitchFamily="34" charset="-122"/>
                <a:cs typeface="Calibri" pitchFamily="34" charset="-120"/>
                <a:hlinkClick r:id="rId1" invalidUrl="" action="" tgtFrame="" tooltip="Open the Assay dashboard" history="1" highlightClick="0" endSnd="0">
                  <a:extLst>
                    <a:ext uri="{A12FA001-AC4F-418D-AE19-62706E023703}">
                      <ahyp:hlinkClr xmlns:ahyp="http://schemas.microsoft.com/office/drawing/2018/hyperlinkcolor" val="tx"/>
                    </a:ext>
                  </a:extLst>
                </a:hlinkClick>
              </a:rPr>
              <a:t>assay-manager-7474649367590010.aws.databricksapps.com</a:t>
            </a:r>
            <a:endParaRPr lang="en-US" sz="1900" dirty="0"/>
          </a:p>
        </p:txBody>
      </p:sp>
      <p:sp>
        <p:nvSpPr>
          <p:cNvPr id="7" name="Text 5"/>
          <p:cNvSpPr txBox="1"/>
          <p:nvPr/>
        </p:nvSpPr>
        <p:spPr>
          <a:xfrm>
            <a:off x="731520" y="3090672"/>
            <a:ext cx="7680960" cy="274320"/>
          </a:xfrm>
          <a:prstGeom prst="rect">
            <a:avLst/>
          </a:prstGeom>
          <a:noFill/>
          <a:ln/>
        </p:spPr>
        <p:txBody>
          <a:bodyPr wrap="square" lIns="0" tIns="0" rIns="0" bIns="0" rtlCol="0" anchor="t"/>
          <a:lstStyle/>
          <a:p>
            <a:pPr indent="0" marL="0">
              <a:buNone/>
            </a:pPr>
            <a:r>
              <a:rPr lang="en-US" sz="1300" dirty="0">
                <a:solidFill>
                  <a:srgbClr val="AEB6C1"/>
                </a:solidFill>
                <a:latin typeface="Calibri" pitchFamily="34" charset="0"/>
                <a:ea typeface="Calibri" pitchFamily="34" charset="-122"/>
                <a:cs typeface="Calibri" pitchFamily="34" charset="-120"/>
              </a:rPr>
              <a:t>Sign in with the Databricks workspace account</a:t>
            </a:r>
            <a:endParaRPr lang="en-US" sz="1300" dirty="0"/>
          </a:p>
        </p:txBody>
      </p:sp>
      <p:sp>
        <p:nvSpPr>
          <p:cNvPr id="8" name="Shape 6"/>
          <p:cNvSpPr/>
          <p:nvPr/>
        </p:nvSpPr>
        <p:spPr>
          <a:xfrm>
            <a:off x="731520" y="3703320"/>
            <a:ext cx="402336" cy="402336"/>
          </a:xfrm>
          <a:prstGeom prst="ellipse">
            <a:avLst/>
          </a:prstGeom>
          <a:solidFill>
            <a:srgbClr val="E3A92B"/>
          </a:solidFill>
          <a:ln w="12700">
            <a:solidFill>
              <a:srgbClr val="E3A92B"/>
            </a:solidFill>
            <a:prstDash val="solid"/>
          </a:ln>
        </p:spPr>
      </p:sp>
      <p:sp>
        <p:nvSpPr>
          <p:cNvPr id="9" name="Text 7"/>
          <p:cNvSpPr txBox="1"/>
          <p:nvPr/>
        </p:nvSpPr>
        <p:spPr>
          <a:xfrm>
            <a:off x="731520" y="3703320"/>
            <a:ext cx="402336" cy="402336"/>
          </a:xfrm>
          <a:prstGeom prst="rect">
            <a:avLst/>
          </a:prstGeom>
          <a:noFill/>
          <a:ln/>
        </p:spPr>
        <p:txBody>
          <a:bodyPr wrap="square" lIns="0" tIns="0" rIns="0" bIns="0" rtlCol="0" anchor="ctr"/>
          <a:lstStyle/>
          <a:p>
            <a:pPr algn="ctr" indent="0" marL="0">
              <a:buNone/>
            </a:pPr>
            <a:r>
              <a:rPr lang="en-US" sz="1500" b="1" dirty="0">
                <a:solidFill>
                  <a:srgbClr val="161B22"/>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325880" y="3703320"/>
            <a:ext cx="7040880" cy="402336"/>
          </a:xfrm>
          <a:prstGeom prst="rect">
            <a:avLst/>
          </a:prstGeom>
          <a:noFill/>
          <a:ln/>
        </p:spPr>
        <p:txBody>
          <a:bodyPr wrap="square" lIns="0" tIns="0" rIns="0" bIns="0" rtlCol="0" anchor="ctr"/>
          <a:lstStyle/>
          <a:p>
            <a:pPr indent="0" marL="0">
              <a:buNone/>
            </a:pPr>
            <a:r>
              <a:rPr lang="en-US" sz="1700" dirty="0">
                <a:solidFill>
                  <a:srgbClr val="F5F3EE"/>
                </a:solidFill>
                <a:latin typeface="Calibri" pitchFamily="34" charset="0"/>
                <a:ea typeface="Calibri" pitchFamily="34" charset="-122"/>
                <a:cs typeface="Calibri" pitchFamily="34" charset="-120"/>
              </a:rPr>
              <a:t>A suggestion in plain words: we answer Yes or No</a:t>
            </a:r>
            <a:endParaRPr lang="en-US" sz="1700" dirty="0"/>
          </a:p>
        </p:txBody>
      </p:sp>
      <p:sp>
        <p:nvSpPr>
          <p:cNvPr id="11" name="Shape 9"/>
          <p:cNvSpPr/>
          <p:nvPr/>
        </p:nvSpPr>
        <p:spPr>
          <a:xfrm>
            <a:off x="731520" y="4306824"/>
            <a:ext cx="402336" cy="402336"/>
          </a:xfrm>
          <a:prstGeom prst="ellipse">
            <a:avLst/>
          </a:prstGeom>
          <a:solidFill>
            <a:srgbClr val="E3A92B"/>
          </a:solidFill>
          <a:ln w="12700">
            <a:solidFill>
              <a:srgbClr val="E3A92B"/>
            </a:solidFill>
            <a:prstDash val="solid"/>
          </a:ln>
        </p:spPr>
      </p:sp>
      <p:sp>
        <p:nvSpPr>
          <p:cNvPr id="12" name="Text 10"/>
          <p:cNvSpPr txBox="1"/>
          <p:nvPr/>
        </p:nvSpPr>
        <p:spPr>
          <a:xfrm>
            <a:off x="731520" y="4306824"/>
            <a:ext cx="402336" cy="402336"/>
          </a:xfrm>
          <a:prstGeom prst="rect">
            <a:avLst/>
          </a:prstGeom>
          <a:noFill/>
          <a:ln/>
        </p:spPr>
        <p:txBody>
          <a:bodyPr wrap="square" lIns="0" tIns="0" rIns="0" bIns="0" rtlCol="0" anchor="ctr"/>
          <a:lstStyle/>
          <a:p>
            <a:pPr algn="ctr" indent="0" marL="0">
              <a:buNone/>
            </a:pPr>
            <a:r>
              <a:rPr lang="en-US" sz="1500" b="1" dirty="0">
                <a:solidFill>
                  <a:srgbClr val="161B22"/>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25880" y="4306824"/>
            <a:ext cx="7040880" cy="402336"/>
          </a:xfrm>
          <a:prstGeom prst="rect">
            <a:avLst/>
          </a:prstGeom>
          <a:noFill/>
          <a:ln/>
        </p:spPr>
        <p:txBody>
          <a:bodyPr wrap="square" lIns="0" tIns="0" rIns="0" bIns="0" rtlCol="0" anchor="ctr"/>
          <a:lstStyle/>
          <a:p>
            <a:pPr indent="0" marL="0">
              <a:buNone/>
            </a:pPr>
            <a:r>
              <a:rPr lang="en-US" sz="1700" dirty="0">
                <a:solidFill>
                  <a:srgbClr val="F5F3EE"/>
                </a:solidFill>
                <a:latin typeface="Calibri" pitchFamily="34" charset="0"/>
                <a:ea typeface="Calibri" pitchFamily="34" charset="-122"/>
                <a:cs typeface="Calibri" pitchFamily="34" charset="-120"/>
              </a:rPr>
              <a:t>The trust bar moves toward “handled for you”</a:t>
            </a:r>
            <a:endParaRPr lang="en-US" sz="1700" dirty="0"/>
          </a:p>
        </p:txBody>
      </p:sp>
      <p:sp>
        <p:nvSpPr>
          <p:cNvPr id="14" name="Shape 12"/>
          <p:cNvSpPr/>
          <p:nvPr/>
        </p:nvSpPr>
        <p:spPr>
          <a:xfrm>
            <a:off x="731520" y="4910328"/>
            <a:ext cx="402336" cy="402336"/>
          </a:xfrm>
          <a:prstGeom prst="ellipse">
            <a:avLst/>
          </a:prstGeom>
          <a:solidFill>
            <a:srgbClr val="E3A92B"/>
          </a:solidFill>
          <a:ln w="12700">
            <a:solidFill>
              <a:srgbClr val="E3A92B"/>
            </a:solidFill>
            <a:prstDash val="solid"/>
          </a:ln>
        </p:spPr>
      </p:sp>
      <p:sp>
        <p:nvSpPr>
          <p:cNvPr id="15" name="Text 13"/>
          <p:cNvSpPr txBox="1"/>
          <p:nvPr/>
        </p:nvSpPr>
        <p:spPr>
          <a:xfrm>
            <a:off x="731520" y="4910328"/>
            <a:ext cx="402336" cy="402336"/>
          </a:xfrm>
          <a:prstGeom prst="rect">
            <a:avLst/>
          </a:prstGeom>
          <a:noFill/>
          <a:ln/>
        </p:spPr>
        <p:txBody>
          <a:bodyPr wrap="square" lIns="0" tIns="0" rIns="0" bIns="0" rtlCol="0" anchor="ctr"/>
          <a:lstStyle/>
          <a:p>
            <a:pPr algn="ctr" indent="0" marL="0">
              <a:buNone/>
            </a:pPr>
            <a:r>
              <a:rPr lang="en-US" sz="1500" b="1" dirty="0">
                <a:solidFill>
                  <a:srgbClr val="161B22"/>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325880" y="4910328"/>
            <a:ext cx="7040880" cy="402336"/>
          </a:xfrm>
          <a:prstGeom prst="rect">
            <a:avLst/>
          </a:prstGeom>
          <a:noFill/>
          <a:ln/>
        </p:spPr>
        <p:txBody>
          <a:bodyPr wrap="square" lIns="0" tIns="0" rIns="0" bIns="0" rtlCol="0" anchor="ctr"/>
          <a:lstStyle/>
          <a:p>
            <a:pPr indent="0" marL="0">
              <a:buNone/>
            </a:pPr>
            <a:r>
              <a:rPr lang="en-US" sz="1700" dirty="0">
                <a:solidFill>
                  <a:srgbClr val="F5F3EE"/>
                </a:solidFill>
                <a:latin typeface="Calibri" pitchFamily="34" charset="0"/>
                <a:ea typeface="Calibri" pitchFamily="34" charset="-122"/>
                <a:cs typeface="Calibri" pitchFamily="34" charset="-120"/>
              </a:rPr>
              <a:t>What Assay blocked: the over-confident model and the bad rule</a:t>
            </a:r>
            <a:endParaRPr lang="en-US" sz="1700" dirty="0"/>
          </a:p>
        </p:txBody>
      </p:sp>
      <p:sp>
        <p:nvSpPr>
          <p:cNvPr id="17" name="Shape 15"/>
          <p:cNvSpPr/>
          <p:nvPr/>
        </p:nvSpPr>
        <p:spPr>
          <a:xfrm>
            <a:off x="731520" y="5513832"/>
            <a:ext cx="402336" cy="402336"/>
          </a:xfrm>
          <a:prstGeom prst="ellipse">
            <a:avLst/>
          </a:prstGeom>
          <a:solidFill>
            <a:srgbClr val="E3A92B"/>
          </a:solidFill>
          <a:ln w="12700">
            <a:solidFill>
              <a:srgbClr val="E3A92B"/>
            </a:solidFill>
            <a:prstDash val="solid"/>
          </a:ln>
        </p:spPr>
      </p:sp>
      <p:sp>
        <p:nvSpPr>
          <p:cNvPr id="18" name="Text 16"/>
          <p:cNvSpPr txBox="1"/>
          <p:nvPr/>
        </p:nvSpPr>
        <p:spPr>
          <a:xfrm>
            <a:off x="731520" y="5513832"/>
            <a:ext cx="402336" cy="402336"/>
          </a:xfrm>
          <a:prstGeom prst="rect">
            <a:avLst/>
          </a:prstGeom>
          <a:noFill/>
          <a:ln/>
        </p:spPr>
        <p:txBody>
          <a:bodyPr wrap="square" lIns="0" tIns="0" rIns="0" bIns="0" rtlCol="0" anchor="ctr"/>
          <a:lstStyle/>
          <a:p>
            <a:pPr algn="ctr" indent="0" marL="0">
              <a:buNone/>
            </a:pPr>
            <a:r>
              <a:rPr lang="en-US" sz="1500" b="1" dirty="0">
                <a:solidFill>
                  <a:srgbClr val="161B22"/>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325880" y="5513832"/>
            <a:ext cx="7040880" cy="402336"/>
          </a:xfrm>
          <a:prstGeom prst="rect">
            <a:avLst/>
          </a:prstGeom>
          <a:noFill/>
          <a:ln/>
        </p:spPr>
        <p:txBody>
          <a:bodyPr wrap="square" lIns="0" tIns="0" rIns="0" bIns="0" rtlCol="0" anchor="ctr"/>
          <a:lstStyle/>
          <a:p>
            <a:pPr indent="0" marL="0">
              <a:buNone/>
            </a:pPr>
            <a:r>
              <a:rPr lang="en-US" sz="1700" dirty="0">
                <a:solidFill>
                  <a:srgbClr val="F5F3EE"/>
                </a:solidFill>
                <a:latin typeface="Calibri" pitchFamily="34" charset="0"/>
                <a:ea typeface="Calibri" pitchFamily="34" charset="-122"/>
                <a:cs typeface="Calibri" pitchFamily="34" charset="-120"/>
              </a:rPr>
              <a:t>The agent runs live on new Jira tickets</a:t>
            </a:r>
            <a:endParaRPr lang="en-US" sz="1700" dirty="0"/>
          </a:p>
        </p:txBody>
      </p:sp>
      <p:sp>
        <p:nvSpPr>
          <p:cNvPr id="20" name="Shape 18"/>
          <p:cNvSpPr/>
          <p:nvPr/>
        </p:nvSpPr>
        <p:spPr>
          <a:xfrm>
            <a:off x="9006840" y="1920240"/>
            <a:ext cx="2468880" cy="3246120"/>
          </a:xfrm>
          <a:prstGeom prst="roundRect">
            <a:avLst>
              <a:gd name="adj" fmla="val 4444"/>
            </a:avLst>
          </a:prstGeom>
          <a:solidFill>
            <a:srgbClr val="FFFFFF"/>
          </a:solidFill>
          <a:ln w="12700">
            <a:solidFill>
              <a:srgbClr val="FFFFFF"/>
            </a:solidFill>
            <a:prstDash val="solid"/>
          </a:ln>
        </p:spPr>
      </p:sp>
      <p:pic>
        <p:nvPicPr>
          <p:cNvPr id="21" name="Image 0" descr="QR code to the GitHub repository">
            <a:hlinkClick r:id="rId3" tooltip="Code and full report"/>
          </p:cNvPr>
          <p:cNvPicPr>
            <a:picLocks noChangeAspect="1"/>
          </p:cNvPicPr>
          <p:nvPr/>
        </p:nvPicPr>
        <p:blipFill>
          <a:blip r:embed="rId2"/>
          <a:stretch>
            <a:fillRect/>
          </a:stretch>
        </p:blipFill>
        <p:spPr>
          <a:xfrm>
            <a:off x="9189720" y="2103120"/>
            <a:ext cx="2103120" cy="2103120"/>
          </a:xfrm>
          <a:prstGeom prst="rect">
            <a:avLst/>
          </a:prstGeom>
        </p:spPr>
      </p:pic>
      <p:sp>
        <p:nvSpPr>
          <p:cNvPr id="22" name="Text 19"/>
          <p:cNvSpPr txBox="1"/>
          <p:nvPr/>
        </p:nvSpPr>
        <p:spPr>
          <a:xfrm>
            <a:off x="9098280" y="4297680"/>
            <a:ext cx="2286000" cy="274320"/>
          </a:xfrm>
          <a:prstGeom prst="rect">
            <a:avLst/>
          </a:prstGeom>
          <a:noFill/>
          <a:ln/>
        </p:spPr>
        <p:txBody>
          <a:bodyPr wrap="square" lIns="0" tIns="0" rIns="0" bIns="0" rtlCol="0" anchor="t"/>
          <a:lstStyle/>
          <a:p>
            <a:pPr algn="ctr" indent="0" marL="0">
              <a:buNone/>
            </a:pPr>
            <a:r>
              <a:rPr lang="en-US" sz="1400" b="1" dirty="0">
                <a:solidFill>
                  <a:srgbClr val="161B22"/>
                </a:solidFill>
                <a:latin typeface="Calibri" pitchFamily="34" charset="0"/>
                <a:ea typeface="Calibri" pitchFamily="34" charset="-122"/>
                <a:cs typeface="Calibri" pitchFamily="34" charset="-120"/>
              </a:rPr>
              <a:t>Code + full report</a:t>
            </a:r>
            <a:endParaRPr lang="en-US" sz="1400" dirty="0"/>
          </a:p>
        </p:txBody>
      </p:sp>
      <p:sp>
        <p:nvSpPr>
          <p:cNvPr id="23" name="Text 20"/>
          <p:cNvSpPr txBox="1"/>
          <p:nvPr/>
        </p:nvSpPr>
        <p:spPr>
          <a:xfrm>
            <a:off x="9098280" y="4572000"/>
            <a:ext cx="2286000" cy="274320"/>
          </a:xfrm>
          <a:prstGeom prst="rect">
            <a:avLst/>
          </a:prstGeom>
          <a:noFill/>
          <a:ln/>
        </p:spPr>
        <p:txBody>
          <a:bodyPr wrap="square" lIns="0" tIns="0" rIns="0" bIns="0" rtlCol="0" anchor="t"/>
          <a:lstStyle/>
          <a:p>
            <a:pPr algn="ctr" indent="0" marL="0">
              <a:buNone/>
            </a:pPr>
            <a:r>
              <a:rPr lang="en-US" sz="1200" dirty="0">
                <a:solidFill>
                  <a:srgbClr val="5B6675"/>
                </a:solidFill>
                <a:latin typeface="Calibri" pitchFamily="34" charset="0"/>
                <a:ea typeface="Calibri" pitchFamily="34" charset="-122"/>
                <a:cs typeface="Calibri" pitchFamily="34" charset="-120"/>
              </a:rPr>
              <a:t>open to everyone</a:t>
            </a:r>
            <a:endParaRPr lang="en-US" sz="1200" dirty="0"/>
          </a:p>
        </p:txBody>
      </p:sp>
      <p:sp>
        <p:nvSpPr>
          <p:cNvPr id="24" name="Text 21"/>
          <p:cNvSpPr txBox="1"/>
          <p:nvPr/>
        </p:nvSpPr>
        <p:spPr>
          <a:xfrm>
            <a:off x="8778240" y="5349240"/>
            <a:ext cx="2926080" cy="274320"/>
          </a:xfrm>
          <a:prstGeom prst="rect">
            <a:avLst/>
          </a:prstGeom>
          <a:noFill/>
          <a:ln/>
        </p:spPr>
        <p:txBody>
          <a:bodyPr wrap="square" lIns="0" tIns="0" rIns="0" bIns="0" rtlCol="0" anchor="t"/>
          <a:lstStyle/>
          <a:p>
            <a:pPr algn="ctr" indent="0" marL="0">
              <a:buNone/>
            </a:pPr>
            <a:r>
              <a:rPr lang="en-US" sz="1100" u="sng" dirty="0">
                <a:solidFill>
                  <a:srgbClr val="AEB6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github.com/Ananda-001/Badger-Build-Fest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1371600"/>
          </a:xfrm>
          <a:prstGeom prst="rect">
            <a:avLst/>
          </a:prstGeom>
          <a:noFill/>
          <a:ln/>
        </p:spPr>
        <p:txBody>
          <a:bodyPr wrap="square" lIns="0" tIns="0" rIns="0" bIns="0" rtlCol="0" anchor="t"/>
          <a:lstStyle/>
          <a:p>
            <a:pPr indent="0" marL="0">
              <a:buNone/>
            </a:pPr>
            <a:r>
              <a:rPr lang="en-US" sz="8000" b="1" dirty="0">
                <a:solidFill>
                  <a:srgbClr val="F5F3EE"/>
                </a:solidFill>
                <a:latin typeface="Cambria" pitchFamily="34" charset="0"/>
                <a:ea typeface="Cambria" pitchFamily="34" charset="-122"/>
                <a:cs typeface="Cambria" pitchFamily="34" charset="-120"/>
              </a:rPr>
              <a:t>Questions?</a:t>
            </a:r>
            <a:endParaRPr lang="en-US" sz="8000" dirty="0"/>
          </a:p>
        </p:txBody>
      </p:sp>
      <p:sp>
        <p:nvSpPr>
          <p:cNvPr id="3" name="Text 1"/>
          <p:cNvSpPr txBox="1"/>
          <p:nvPr/>
        </p:nvSpPr>
        <p:spPr>
          <a:xfrm>
            <a:off x="731520" y="3429000"/>
            <a:ext cx="7315200" cy="548640"/>
          </a:xfrm>
          <a:prstGeom prst="rect">
            <a:avLst/>
          </a:prstGeom>
          <a:noFill/>
          <a:ln/>
        </p:spPr>
        <p:txBody>
          <a:bodyPr wrap="square" lIns="0" tIns="0" rIns="0" bIns="0" rtlCol="0" anchor="t"/>
          <a:lstStyle/>
          <a:p>
            <a:pPr indent="0" marL="0">
              <a:buNone/>
            </a:pPr>
            <a:r>
              <a:rPr lang="en-US" sz="2600" i="1" dirty="0">
                <a:solidFill>
                  <a:srgbClr val="E3A92B"/>
                </a:solidFill>
                <a:latin typeface="Calibri" pitchFamily="34" charset="0"/>
                <a:ea typeface="Calibri" pitchFamily="34" charset="-122"/>
                <a:cs typeface="Calibri" pitchFamily="34" charset="-120"/>
              </a:rPr>
              <a:t>Thank you.</a:t>
            </a:r>
            <a:endParaRPr lang="en-US" sz="2600" dirty="0"/>
          </a:p>
        </p:txBody>
      </p:sp>
      <p:sp>
        <p:nvSpPr>
          <p:cNvPr id="4" name="Text 2"/>
          <p:cNvSpPr txBox="1"/>
          <p:nvPr/>
        </p:nvSpPr>
        <p:spPr>
          <a:xfrm>
            <a:off x="731520" y="5669280"/>
            <a:ext cx="7315200" cy="320040"/>
          </a:xfrm>
          <a:prstGeom prst="rect">
            <a:avLst/>
          </a:prstGeom>
          <a:noFill/>
          <a:ln/>
        </p:spPr>
        <p:txBody>
          <a:bodyPr wrap="square" lIns="0" tIns="0" rIns="0" bIns="0" rtlCol="0" anchor="t"/>
          <a:lstStyle/>
          <a:p>
            <a:pPr indent="0" marL="0">
              <a:buNone/>
            </a:pPr>
            <a:r>
              <a:rPr lang="en-US" sz="1600" b="1" dirty="0">
                <a:solidFill>
                  <a:srgbClr val="F5F3EE"/>
                </a:solidFill>
                <a:latin typeface="Calibri" pitchFamily="34" charset="0"/>
                <a:ea typeface="Calibri" pitchFamily="34" charset="-122"/>
                <a:cs typeface="Calibri" pitchFamily="34" charset="-120"/>
              </a:rPr>
              <a:t>Soham Vazirani  ·  Ananda  ·  Mohith</a:t>
            </a:r>
            <a:endParaRPr lang="en-US" sz="1600" dirty="0"/>
          </a:p>
        </p:txBody>
      </p:sp>
      <p:sp>
        <p:nvSpPr>
          <p:cNvPr id="5" name="Text 3"/>
          <p:cNvSpPr txBox="1"/>
          <p:nvPr/>
        </p:nvSpPr>
        <p:spPr>
          <a:xfrm>
            <a:off x="731520" y="6035040"/>
            <a:ext cx="7315200" cy="320040"/>
          </a:xfrm>
          <a:prstGeom prst="rect">
            <a:avLst/>
          </a:prstGeom>
          <a:noFill/>
          <a:ln/>
        </p:spPr>
        <p:txBody>
          <a:bodyPr wrap="square" lIns="0" tIns="0" rIns="0" bIns="0" rtlCol="0" anchor="t"/>
          <a:lstStyle/>
          <a:p>
            <a:pPr indent="0" marL="0">
              <a:buNone/>
            </a:pPr>
            <a:r>
              <a:rPr lang="en-US" sz="1400" u="sng" dirty="0">
                <a:solidFill>
                  <a:srgbClr val="AEB6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github.com/Ananda-001/Badger-Build-Fest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Assay</dc:title>
  <dc:subject>PptxGenJS Presentation</dc:subject>
  <dc:creator>Team Assay</dc:creator>
  <cp:lastModifiedBy>Team Assay</cp:lastModifiedBy>
  <cp:revision>1</cp:revision>
  <dcterms:created xsi:type="dcterms:W3CDTF">2026-09-27T07:01:42Z</dcterms:created>
  <dcterms:modified xsi:type="dcterms:W3CDTF">2026-09-27T07:01:42Z</dcterms:modified>
</cp:coreProperties>
</file>